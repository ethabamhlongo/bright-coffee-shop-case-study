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8.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9.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6F4E37"/>
            </a:solidFill>
            <a:ln w="38100" cap="flat">
              <a:solidFill>
                <a:srgbClr val="6F4E37"/>
              </a:solidFill>
              <a:prstDash val="solid"/>
              <a:round/>
            </a:ln>
            <a:effectLst/>
          </c:spPr>
          <c:invertIfNegative val="0"/>
          <c:dLbls>
            <c:numFmt formatCode="#,##0" sourceLinked="0"/>
            <c:txPr>
              <a:bodyPr/>
              <a:lstStyle/>
              <a:p>
                <a:pPr>
                  <a:defRPr b="0" i="0" strike="noStrike" sz="1100" u="none">
                    <a:solidFill>
                      <a:srgbClr val="1A1A1A"/>
                    </a:solidFill>
                    <a:latin typeface="Calibri"/>
                  </a:defRPr>
                </a:pPr>
              </a:p>
            </c:txPr>
            <c:dLblPos val="t"/>
            <c:showLegendKey val="0"/>
            <c:showVal val="1"/>
            <c:showCatName val="0"/>
            <c:showSerName val="0"/>
            <c:showPercent val="0"/>
            <c:showBubbleSize val="0"/>
            <c:showLeaderLines val="0"/>
          </c:dLbls>
          <c:marker>
            <c:symbol val="circle"/>
            <c:size val="9"/>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81677.74</c:v>
                </c:pt>
                <c:pt idx="1">
                  <c:v>76145.19</c:v>
                </c:pt>
                <c:pt idx="2">
                  <c:v>98834.68</c:v>
                </c:pt>
                <c:pt idx="3">
                  <c:v>118941.08</c:v>
                </c:pt>
                <c:pt idx="4">
                  <c:v>90955.44</c:v>
                </c:pt>
              </c:numCache>
            </c:numRef>
          </c:val>
          <c:smooth val="0"/>
        </c:ser>
        <c:dLbls>
          <c:numFmt formatCode="#,##0" sourceLinked="0"/>
          <c:txPr>
            <a:bodyPr/>
            <a:lstStyle/>
            <a:p>
              <a:pPr>
                <a:defRPr b="0" i="0" strike="noStrike" sz="1100" u="none">
                  <a:solidFill>
                    <a:srgbClr val="1A1A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140000"/>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Packaged Chocolate</c:v>
                  </c:pt>
                  <c:pt idx="1">
                    <c:v>Flavours</c:v>
                  </c:pt>
                  <c:pt idx="2">
                    <c:v>Loose Tea</c:v>
                  </c:pt>
                  <c:pt idx="3">
                    <c:v>Branded</c:v>
                  </c:pt>
                  <c:pt idx="4">
                    <c:v>Coffee beans</c:v>
                  </c:pt>
                  <c:pt idx="5">
                    <c:v>Drinking Chocolate</c:v>
                  </c:pt>
                  <c:pt idx="6">
                    <c:v>Bakery</c:v>
                  </c:pt>
                  <c:pt idx="7">
                    <c:v>Tea</c:v>
                  </c:pt>
                  <c:pt idx="8">
                    <c:v>Coffee</c:v>
                  </c:pt>
                </c:lvl>
              </c:multiLvlStrCache>
            </c:multiLvlStrRef>
          </c:cat>
          <c:val>
            <c:numRef>
              <c:f>Sheet1!$B$2:$B$10</c:f>
              <c:numCache>
                <c:formatCode>General</c:formatCode>
                <c:ptCount val="9"/>
                <c:pt idx="0">
                  <c:v>3101.11</c:v>
                </c:pt>
                <c:pt idx="1">
                  <c:v>5663.200000000001</c:v>
                </c:pt>
                <c:pt idx="2">
                  <c:v>7564.349999999999</c:v>
                </c:pt>
                <c:pt idx="3">
                  <c:v>8956</c:v>
                </c:pt>
                <c:pt idx="4">
                  <c:v>26469.55</c:v>
                </c:pt>
                <c:pt idx="5">
                  <c:v>48592.25</c:v>
                </c:pt>
                <c:pt idx="6">
                  <c:v>55464.77</c:v>
                </c:pt>
                <c:pt idx="7">
                  <c:v>131354.75</c:v>
                </c:pt>
                <c:pt idx="8">
                  <c:v>179388.15</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title>
          <c:tx>
            <c:rich>
              <a:bodyPr/>
              <a:lstStyle/>
              <a:p>
                <a:pPr>
                  <a:defRPr sz="1100" b="0" i="0" u="none" strike="noStrike">
                    <a:solidFill>
                      <a:srgbClr val="1A1A1A"/>
                    </a:solidFill>
                    <a:latin typeface="Calibri"/>
                  </a:defRPr>
                </a:pPr>
                <a:r>
                  <a:rPr sz="1100" b="0" i="0" u="none" strike="noStrike">
                    <a:solidFill>
                      <a:srgbClr val="1A1A1A"/>
                    </a:solidFill>
                    <a:latin typeface="Calibri"/>
                  </a:rPr>
                  <a:t>Product Category</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Drip coffee</c:v>
                  </c:pt>
                  <c:pt idx="1">
                    <c:v>Scone</c:v>
                  </c:pt>
                  <c:pt idx="2">
                    <c:v>Organic brewed coffee</c:v>
                  </c:pt>
                  <c:pt idx="3">
                    <c:v>Premium brewed coffee</c:v>
                  </c:pt>
                  <c:pt idx="4">
                    <c:v>Brewed herbal tea</c:v>
                  </c:pt>
                  <c:pt idx="5">
                    <c:v>Brewed Black tea</c:v>
                  </c:pt>
                  <c:pt idx="6">
                    <c:v>Gourmet brewed coffee</c:v>
                  </c:pt>
                  <c:pt idx="7">
                    <c:v>Hot chocolate</c:v>
                  </c:pt>
                  <c:pt idx="8">
                    <c:v>Brewed Chai tea</c:v>
                  </c:pt>
                  <c:pt idx="9">
                    <c:v>Barista Espresso</c:v>
                  </c:pt>
                </c:lvl>
              </c:multiLvlStrCache>
            </c:multiLvlStrRef>
          </c:cat>
          <c:val>
            <c:numRef>
              <c:f>Sheet1!$B$2:$B$11</c:f>
              <c:numCache>
                <c:formatCode>General</c:formatCode>
                <c:ptCount val="10"/>
                <c:pt idx="0">
                  <c:v>21138</c:v>
                </c:pt>
                <c:pt idx="1">
                  <c:v>24678.26</c:v>
                </c:pt>
                <c:pt idx="2">
                  <c:v>25298.8</c:v>
                </c:pt>
                <c:pt idx="3">
                  <c:v>25961.8</c:v>
                </c:pt>
                <c:pt idx="4">
                  <c:v>31556.5</c:v>
                </c:pt>
                <c:pt idx="5">
                  <c:v>32271.5</c:v>
                </c:pt>
                <c:pt idx="6">
                  <c:v>46312.8</c:v>
                </c:pt>
                <c:pt idx="7">
                  <c:v>48592.25</c:v>
                </c:pt>
                <c:pt idx="8">
                  <c:v>51507.75</c:v>
                </c:pt>
                <c:pt idx="9">
                  <c:v>60676.75</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title>
          <c:tx>
            <c:rich>
              <a:bodyPr/>
              <a:lstStyle/>
              <a:p>
                <a:pPr>
                  <a:defRPr sz="1100" b="0" i="0" u="none" strike="noStrike">
                    <a:solidFill>
                      <a:srgbClr val="1A1A1A"/>
                    </a:solidFill>
                    <a:latin typeface="Calibri"/>
                  </a:defRPr>
                </a:pPr>
                <a:r>
                  <a:rPr sz="1100" b="0" i="0" u="none" strike="noStrike">
                    <a:solidFill>
                      <a:srgbClr val="1A1A1A"/>
                    </a:solidFill>
                    <a:latin typeface="Calibri"/>
                  </a:rPr>
                  <a:t>Product Type</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Units sold</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Coffee</c:v>
                  </c:pt>
                  <c:pt idx="1">
                    <c:v>Tea</c:v>
                  </c:pt>
                  <c:pt idx="2">
                    <c:v>Bakery</c:v>
                  </c:pt>
                  <c:pt idx="3">
                    <c:v>Drinking Chocolate</c:v>
                  </c:pt>
                  <c:pt idx="4">
                    <c:v>Flavours</c:v>
                  </c:pt>
                  <c:pt idx="5">
                    <c:v>Coffee beans</c:v>
                  </c:pt>
                  <c:pt idx="6">
                    <c:v>Loose Tea</c:v>
                  </c:pt>
                  <c:pt idx="7">
                    <c:v>Branded</c:v>
                  </c:pt>
                  <c:pt idx="8">
                    <c:v>Packaged Chocolate</c:v>
                  </c:pt>
                </c:lvl>
              </c:multiLvlStrCache>
            </c:multiLvlStrRef>
          </c:cat>
          <c:val>
            <c:numRef>
              <c:f>Sheet1!$B$2:$B$10</c:f>
              <c:numCache>
                <c:formatCode>General</c:formatCode>
                <c:ptCount val="9"/>
                <c:pt idx="0">
                  <c:v>59260</c:v>
                </c:pt>
                <c:pt idx="1">
                  <c:v>46656</c:v>
                </c:pt>
                <c:pt idx="2">
                  <c:v>15624</c:v>
                </c:pt>
                <c:pt idx="3">
                  <c:v>11713</c:v>
                </c:pt>
                <c:pt idx="4">
                  <c:v>7079</c:v>
                </c:pt>
                <c:pt idx="5">
                  <c:v>1221</c:v>
                </c:pt>
                <c:pt idx="6">
                  <c:v>817</c:v>
                </c:pt>
                <c:pt idx="7">
                  <c:v>515</c:v>
                </c:pt>
                <c:pt idx="8">
                  <c:v>340</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Product Category</a:t>
                </a:r>
              </a:p>
            </c:rich>
          </c:tx>
          <c:layout/>
          <c:overlay val="0"/>
        </c:title>
        <c:numFmt formatCode="General" sourceLinked="1"/>
        <c:majorTickMark val="out"/>
        <c:minorTickMark val="none"/>
        <c:tickLblPos val="low"/>
        <c:spPr>
          <a:ln w="12700" cap="flat">
            <a:solidFill>
              <a:srgbClr val="888888"/>
            </a:solidFill>
            <a:prstDash val="solid"/>
            <a:round/>
          </a:ln>
        </c:spPr>
        <c:txPr>
          <a:bodyPr rot="19200000"/>
          <a:lstStyle/>
          <a:p>
            <a:pPr>
              <a:defRPr sz="10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Units Sold</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Revenue</c:v>
                </c:pt>
              </c:strCache>
            </c:strRef>
          </c:tx>
          <c:spPr>
            <a:solidFill>
              <a:srgbClr val="6F4E37"/>
            </a:solidFill>
            <a:ln w="38100" cap="flat">
              <a:solidFill>
                <a:srgbClr val="6F4E37"/>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6"/>
            <c:spPr>
              <a:solidFill>
                <a:srgbClr val="6F4E37"/>
              </a:solidFill>
              <a:ln w="9525" cap="flat">
                <a:solidFill>
                  <a:srgbClr val="6F4E37"/>
                </a:solidFill>
                <a:prstDash val="solid"/>
                <a:round/>
              </a:ln>
              <a:effectLst/>
            </c:spPr>
          </c:marker>
          <c:cat>
            <c:multiLvlStrRef>
              <c:f>Sheet1!$A$2:$A$31</c:f>
              <c:multiLvlStrCache>
                <c:ptCount val="30"/>
                <c:lvl>
                  <c:pt idx="0">
                    <c:v>06:00</c:v>
                  </c:pt>
                  <c:pt idx="1">
                    <c:v>06:30</c:v>
                  </c:pt>
                  <c:pt idx="2">
                    <c:v>07:00</c:v>
                  </c:pt>
                  <c:pt idx="3">
                    <c:v>07:30</c:v>
                  </c:pt>
                  <c:pt idx="4">
                    <c:v>08:00</c:v>
                  </c:pt>
                  <c:pt idx="5">
                    <c:v>08:30</c:v>
                  </c:pt>
                  <c:pt idx="6">
                    <c:v>09:00</c:v>
                  </c:pt>
                  <c:pt idx="7">
                    <c:v>09:30</c:v>
                  </c:pt>
                  <c:pt idx="8">
                    <c:v>10:00</c:v>
                  </c:pt>
                  <c:pt idx="9">
                    <c:v>10:30</c:v>
                  </c:pt>
                  <c:pt idx="10">
                    <c:v>11:00</c:v>
                  </c:pt>
                  <c:pt idx="11">
                    <c:v>11:30</c:v>
                  </c:pt>
                  <c:pt idx="12">
                    <c:v>12:00</c:v>
                  </c:pt>
                  <c:pt idx="13">
                    <c:v>12:30</c:v>
                  </c:pt>
                  <c:pt idx="14">
                    <c:v>13:00</c:v>
                  </c:pt>
                  <c:pt idx="15">
                    <c:v>13:30</c:v>
                  </c:pt>
                  <c:pt idx="16">
                    <c:v>14:00</c:v>
                  </c:pt>
                  <c:pt idx="17">
                    <c:v>14:30</c:v>
                  </c:pt>
                  <c:pt idx="18">
                    <c:v>15:00</c:v>
                  </c:pt>
                  <c:pt idx="19">
                    <c:v>15:30</c:v>
                  </c:pt>
                  <c:pt idx="20">
                    <c:v>16:00</c:v>
                  </c:pt>
                  <c:pt idx="21">
                    <c:v>16:30</c:v>
                  </c:pt>
                  <c:pt idx="22">
                    <c:v>17:00</c:v>
                  </c:pt>
                  <c:pt idx="23">
                    <c:v>17:30</c:v>
                  </c:pt>
                  <c:pt idx="24">
                    <c:v>18:00</c:v>
                  </c:pt>
                  <c:pt idx="25">
                    <c:v>18:30</c:v>
                  </c:pt>
                  <c:pt idx="26">
                    <c:v>19:00</c:v>
                  </c:pt>
                  <c:pt idx="27">
                    <c:v>19:30</c:v>
                  </c:pt>
                  <c:pt idx="28">
                    <c:v>20:00</c:v>
                  </c:pt>
                  <c:pt idx="29">
                    <c:v>20:30</c:v>
                  </c:pt>
                </c:lvl>
              </c:multiLvlStrCache>
            </c:multiLvlStrRef>
          </c:cat>
          <c:val>
            <c:numRef>
              <c:f>Sheet1!$B$2:$B$31</c:f>
              <c:numCache>
                <c:formatCode>General</c:formatCode>
                <c:ptCount val="30"/>
                <c:pt idx="0">
                  <c:v>4307.9</c:v>
                </c:pt>
                <c:pt idx="1">
                  <c:v>10221.04</c:v>
                </c:pt>
                <c:pt idx="2">
                  <c:v>20115.08</c:v>
                </c:pt>
                <c:pt idx="3">
                  <c:v>22568.89</c:v>
                </c:pt>
                <c:pt idx="4">
                  <c:v>27272.29</c:v>
                </c:pt>
                <c:pt idx="5">
                  <c:v>27507.32</c:v>
                </c:pt>
                <c:pt idx="6">
                  <c:v>28292.81</c:v>
                </c:pt>
                <c:pt idx="7">
                  <c:v>28428.98</c:v>
                </c:pt>
                <c:pt idx="8">
                  <c:v>29105.97</c:v>
                </c:pt>
                <c:pt idx="9">
                  <c:v>29579.02</c:v>
                </c:pt>
                <c:pt idx="10">
                  <c:v>17212.23</c:v>
                </c:pt>
                <c:pt idx="11">
                  <c:v>13743.94</c:v>
                </c:pt>
                <c:pt idx="12">
                  <c:v>13785.29</c:v>
                </c:pt>
                <c:pt idx="13">
                  <c:v>13455.36</c:v>
                </c:pt>
                <c:pt idx="14">
                  <c:v>13328.46</c:v>
                </c:pt>
                <c:pt idx="15">
                  <c:v>13362.7</c:v>
                </c:pt>
                <c:pt idx="16">
                  <c:v>14458.82</c:v>
                </c:pt>
                <c:pt idx="17">
                  <c:v>13177.09</c:v>
                </c:pt>
                <c:pt idx="18">
                  <c:v>13599.17</c:v>
                </c:pt>
                <c:pt idx="19">
                  <c:v>14321.84</c:v>
                </c:pt>
                <c:pt idx="20">
                  <c:v>14218.95</c:v>
                </c:pt>
                <c:pt idx="21">
                  <c:v>13531.64</c:v>
                </c:pt>
                <c:pt idx="22">
                  <c:v>13386.65</c:v>
                </c:pt>
                <c:pt idx="23">
                  <c:v>13817.37</c:v>
                </c:pt>
                <c:pt idx="24">
                  <c:v>12939.95</c:v>
                </c:pt>
                <c:pt idx="25">
                  <c:v>9892.91</c:v>
                </c:pt>
                <c:pt idx="26">
                  <c:v>9682.2</c:v>
                </c:pt>
                <c:pt idx="27">
                  <c:v>9445.35</c:v>
                </c:pt>
                <c:pt idx="28">
                  <c:v>873.36</c:v>
                </c:pt>
                <c:pt idx="29">
                  <c:v>921.55</c:v>
                </c:pt>
              </c:numCache>
            </c:numRef>
          </c:val>
          <c:smooth val="0"/>
        </c:ser>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Time</a:t>
                </a:r>
              </a:p>
            </c:rich>
          </c:tx>
          <c:layout/>
          <c:overlay val="0"/>
        </c:title>
        <c:numFmt formatCode="General" sourceLinked="1"/>
        <c:majorTickMark val="out"/>
        <c:minorTickMark val="none"/>
        <c:tickLblPos val="low"/>
        <c:spPr>
          <a:ln w="12700" cap="flat">
            <a:solidFill>
              <a:srgbClr val="888888"/>
            </a:solidFill>
            <a:prstDash val="solid"/>
            <a:round/>
          </a:ln>
        </c:spPr>
        <c:txPr>
          <a:bodyPr rot="18900000"/>
          <a:lstStyle/>
          <a:p>
            <a:pPr>
              <a:defRPr sz="10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35000"/>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Lower Manhattan</c:v>
                  </c:pt>
                  <c:pt idx="1">
                    <c:v>Astoria</c:v>
                  </c:pt>
                  <c:pt idx="2">
                    <c:v>Hell's Kitchen</c:v>
                  </c:pt>
                </c:lvl>
              </c:multiLvlStrCache>
            </c:multiLvlStrRef>
          </c:cat>
          <c:val>
            <c:numRef>
              <c:f>Sheet1!$B$2:$B$4</c:f>
              <c:numCache>
                <c:formatCode>General</c:formatCode>
                <c:ptCount val="3"/>
                <c:pt idx="0">
                  <c:v>152579.27</c:v>
                </c:pt>
                <c:pt idx="1">
                  <c:v>154755.58</c:v>
                </c:pt>
                <c:pt idx="2">
                  <c:v>159219.28</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title>
          <c:tx>
            <c:rich>
              <a:bodyPr/>
              <a:lstStyle/>
              <a:p>
                <a:pPr>
                  <a:defRPr sz="1100" b="0" i="0" u="none" strike="noStrike">
                    <a:solidFill>
                      <a:srgbClr val="1A1A1A"/>
                    </a:solidFill>
                    <a:latin typeface="Calibri"/>
                  </a:defRPr>
                </a:pPr>
                <a:r>
                  <a:rPr sz="1100" b="0" i="0" u="none" strike="noStrike">
                    <a:solidFill>
                      <a:srgbClr val="1A1A1A"/>
                    </a:solidFill>
                    <a:latin typeface="Calibri"/>
                  </a:rPr>
                  <a:t>Store Location</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Hell's Kitchen</c:v>
                </c:pt>
              </c:strCache>
            </c:strRef>
          </c:tx>
          <c:spPr>
            <a:solidFill>
              <a:srgbClr val="6F4E37"/>
            </a:solidFill>
            <a:ln w="38100" cap="flat">
              <a:solidFill>
                <a:srgbClr val="6F4E37"/>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8"/>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27820.65</c:v>
                </c:pt>
                <c:pt idx="1">
                  <c:v>25719.8</c:v>
                </c:pt>
                <c:pt idx="2">
                  <c:v>33110.57</c:v>
                </c:pt>
                <c:pt idx="3">
                  <c:v>40304.14</c:v>
                </c:pt>
                <c:pt idx="4">
                  <c:v>32264.12</c:v>
                </c:pt>
              </c:numCache>
            </c:numRef>
          </c:val>
          <c:smooth val="0"/>
        </c:ser>
        <c:ser>
          <c:idx val="1"/>
          <c:order val="1"/>
          <c:tx>
            <c:strRef>
              <c:f>Sheet1!$C$1</c:f>
              <c:strCache>
                <c:ptCount val="1"/>
                <c:pt idx="0">
                  <c:v>Astoria</c:v>
                </c:pt>
              </c:strCache>
            </c:strRef>
          </c:tx>
          <c:spPr>
            <a:solidFill>
              <a:srgbClr val="1A1A1A"/>
            </a:solidFill>
            <a:ln w="38100" cap="flat">
              <a:solidFill>
                <a:srgbClr val="1A1A1A"/>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8"/>
            <c:spPr>
              <a:solidFill>
                <a:srgbClr val="1A1A1A"/>
              </a:solidFill>
              <a:ln w="9525" cap="flat">
                <a:solidFill>
                  <a:srgbClr val="1A1A1A"/>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Sheet1!$C$2:$C$6</c:f>
              <c:numCache>
                <c:formatCode>General</c:formatCode>
                <c:ptCount val="5"/>
                <c:pt idx="0">
                  <c:v>27313.66</c:v>
                </c:pt>
                <c:pt idx="1">
                  <c:v>25105.34</c:v>
                </c:pt>
                <c:pt idx="2">
                  <c:v>32835.43</c:v>
                </c:pt>
                <c:pt idx="3">
                  <c:v>39477.61</c:v>
                </c:pt>
                <c:pt idx="4">
                  <c:v>30023.54</c:v>
                </c:pt>
              </c:numCache>
            </c:numRef>
          </c:val>
          <c:smooth val="0"/>
        </c:ser>
        <c:ser>
          <c:idx val="2"/>
          <c:order val="2"/>
          <c:tx>
            <c:strRef>
              <c:f>Sheet1!$D$1</c:f>
              <c:strCache>
                <c:ptCount val="1"/>
                <c:pt idx="0">
                  <c:v>Lower Manhattan</c:v>
                </c:pt>
              </c:strCache>
            </c:strRef>
          </c:tx>
          <c:spPr>
            <a:solidFill>
              <a:srgbClr val="C4956A"/>
            </a:solidFill>
            <a:ln w="38100" cap="flat">
              <a:solidFill>
                <a:srgbClr val="C4956A"/>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8"/>
            <c:spPr>
              <a:solidFill>
                <a:srgbClr val="C4956A"/>
              </a:solidFill>
              <a:ln w="9525" cap="flat">
                <a:solidFill>
                  <a:srgbClr val="C4956A"/>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Sheet1!$D$2:$D$6</c:f>
              <c:numCache>
                <c:formatCode>General</c:formatCode>
                <c:ptCount val="5"/>
                <c:pt idx="0">
                  <c:v>26543.43</c:v>
                </c:pt>
                <c:pt idx="1">
                  <c:v>25320.05</c:v>
                </c:pt>
                <c:pt idx="2">
                  <c:v>32888.68</c:v>
                </c:pt>
                <c:pt idx="3">
                  <c:v>39159.33</c:v>
                </c:pt>
                <c:pt idx="4">
                  <c:v>28667.78</c:v>
                </c:pt>
              </c:numCache>
            </c:numRef>
          </c:val>
          <c:smooth val="0"/>
        </c:ser>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45000"/>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Average daily revenue</c:v>
                </c:pt>
              </c:strCache>
            </c:strRef>
          </c:tx>
          <c:spPr>
            <a:solidFill>
              <a:srgbClr val="6F4E37"/>
            </a:solidFill>
            <a:ln w="38100" cap="flat">
              <a:solidFill>
                <a:srgbClr val="6F4E37"/>
              </a:solidFill>
              <a:prstDash val="solid"/>
              <a:round/>
            </a:ln>
            <a:effectLst/>
          </c:spPr>
          <c:invertIfNegative val="0"/>
          <c:dLbls>
            <c:numFmt formatCode="#,##0" sourceLinked="0"/>
            <c:txPr>
              <a:bodyPr/>
              <a:lstStyle/>
              <a:p>
                <a:pPr>
                  <a:defRPr b="0" i="0" strike="noStrike" sz="1100" u="none">
                    <a:solidFill>
                      <a:srgbClr val="1A1A1A"/>
                    </a:solidFill>
                    <a:latin typeface="Calibri"/>
                  </a:defRPr>
                </a:pPr>
              </a:p>
            </c:txPr>
            <c:dLblPos val="t"/>
            <c:showLegendKey val="0"/>
            <c:showVal val="1"/>
            <c:showCatName val="0"/>
            <c:showSerName val="0"/>
            <c:showPercent val="0"/>
            <c:showBubbleSize val="0"/>
            <c:showLeaderLines val="0"/>
          </c:dLbls>
          <c:marker>
            <c:symbol val="circle"/>
            <c:size val="9"/>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2634.765806451613</c:v>
                </c:pt>
                <c:pt idx="1">
                  <c:v>2719.4710714285716</c:v>
                </c:pt>
                <c:pt idx="2">
                  <c:v>3188.2154838709675</c:v>
                </c:pt>
                <c:pt idx="3">
                  <c:v>3964.7026666666666</c:v>
                </c:pt>
                <c:pt idx="4">
                  <c:v>4787.128421052632</c:v>
                </c:pt>
              </c:numCache>
            </c:numRef>
          </c:val>
          <c:smooth val="0"/>
        </c:ser>
        <c:dLbls>
          <c:numFmt formatCode="#,##0" sourceLinked="0"/>
          <c:txPr>
            <a:bodyPr/>
            <a:lstStyle/>
            <a:p>
              <a:pPr>
                <a:defRPr b="0" i="0" strike="noStrike" sz="1100" u="none">
                  <a:solidFill>
                    <a:srgbClr val="1A1A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Month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6000"/>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Average daily revenue</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69656.96</c:v>
                </c:pt>
                <c:pt idx="1">
                  <c:v>67118.98</c:v>
                </c:pt>
                <c:pt idx="2">
                  <c:v>68981.06</c:v>
                </c:pt>
                <c:pt idx="3">
                  <c:v>68286.25</c:v>
                </c:pt>
                <c:pt idx="4">
                  <c:v>63075.78</c:v>
                </c:pt>
                <c:pt idx="5">
                  <c:v>62998.95</c:v>
                </c:pt>
                <c:pt idx="6">
                  <c:v>66436.15</c:v>
                </c:pt>
              </c:numCache>
            </c:numRef>
          </c:val>
        </c:ser>
        <c:dLbls>
          <c:numFmt formatCode="#,##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1A1A1A"/>
                    </a:solidFill>
                    <a:latin typeface="Calibri"/>
                  </a:defRPr>
                </a:pPr>
                <a:r>
                  <a:rPr sz="1100" b="0" i="0" u="none" strike="noStrike">
                    <a:solidFill>
                      <a:srgbClr val="1A1A1A"/>
                    </a:solidFill>
                    <a:latin typeface="Calibri"/>
                  </a:rPr>
                  <a:t>Day of week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80000"/>
          <c:min val="0"/>
        </c:scaling>
        <c:delete val="0"/>
        <c:axPos val="l"/>
        <c:majorGridlines>
          <c:spPr>
            <a:ln w="9525" cap="flat">
              <a:solidFill>
                <a:srgbClr val="E6DCCB"/>
              </a:solidFill>
              <a:prstDash val="solid"/>
              <a:round/>
            </a:ln>
          </c:spPr>
        </c:majorGridlines>
        <c:title>
          <c:tx>
            <c:rich>
              <a:bodyPr/>
              <a:lstStyle/>
              <a:p>
                <a:pPr>
                  <a:defRPr sz="1100" b="0" i="0" u="none" strike="noStrike">
                    <a:solidFill>
                      <a:srgbClr val="1A1A1A"/>
                    </a:solidFill>
                    <a:latin typeface="Calibri"/>
                  </a:defRPr>
                </a:pPr>
                <a:r>
                  <a:rPr sz="1100" b="0" i="0" u="none" strike="noStrike">
                    <a:solidFill>
                      <a:srgbClr val="1A1A1A"/>
                    </a:solidFill>
                    <a:latin typeface="Calibri"/>
                  </a:rPr>
                  <a:t>Revenue</a:t>
                </a:r>
              </a:p>
            </c:rich>
          </c:tx>
          <c:layout/>
          <c:overlay val="0"/>
        </c:title>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Monthly Revenue Trend</a:t>
            </a:r>
          </a:p>
        </c:rich>
      </c:tx>
      <c:layout/>
      <c:overlay val="0"/>
    </c:title>
    <c:autoTitleDeleted val="0"/>
    <c:plotArea>
      <c:layout/>
      <c:lineChart>
        <c:varyColors val="0"/>
        <c:ser>
          <c:idx val="0"/>
          <c:order val="0"/>
          <c:tx>
            <c:strRef>
              <c:f>Sheet1!$B$1</c:f>
              <c:strCache>
                <c:ptCount val="1"/>
                <c:pt idx="0">
                  <c:v>Revenue</c:v>
                </c:pt>
              </c:strCache>
            </c:strRef>
          </c:tx>
          <c:spPr>
            <a:solidFill>
              <a:srgbClr val="6F4E37"/>
            </a:solidFill>
            <a:ln w="25400" cap="flat">
              <a:solidFill>
                <a:srgbClr val="6F4E37"/>
              </a:solidFill>
              <a:prstDash val="solid"/>
              <a:round/>
            </a:ln>
            <a:effectLst/>
          </c:spPr>
          <c:invertIfNegative val="0"/>
          <c:dLbls>
            <c:numFmt formatCode="#,##0" sourceLinked="0"/>
            <c:txPr>
              <a:bodyPr/>
              <a:lstStyle/>
              <a:p>
                <a:pPr>
                  <a:defRPr b="0" i="0" strike="noStrike" sz="700" u="none">
                    <a:solidFill>
                      <a:srgbClr val="1A1A1A"/>
                    </a:solidFill>
                    <a:latin typeface="Calibri"/>
                  </a:defRPr>
                </a:pPr>
              </a:p>
            </c:txPr>
            <c:dLblPos val="t"/>
            <c:showLegendKey val="0"/>
            <c:showVal val="1"/>
            <c:showCatName val="0"/>
            <c:showSerName val="0"/>
            <c:showPercent val="0"/>
            <c:showBubbleSize val="0"/>
            <c:showLeaderLines val="0"/>
          </c:dLbls>
          <c:marker>
            <c:symbol val="circle"/>
            <c:size val="6"/>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81677.74</c:v>
                </c:pt>
                <c:pt idx="1">
                  <c:v>76145.19</c:v>
                </c:pt>
                <c:pt idx="2">
                  <c:v>98834.68</c:v>
                </c:pt>
                <c:pt idx="3">
                  <c:v>118941.08</c:v>
                </c:pt>
                <c:pt idx="4">
                  <c:v>90955.44</c:v>
                </c:pt>
              </c:numCache>
            </c:numRef>
          </c:val>
          <c:smooth val="0"/>
        </c:ser>
        <c:dLbls>
          <c:numFmt formatCode="#,##0" sourceLinked="0"/>
          <c:txPr>
            <a:bodyPr/>
            <a:lstStyle/>
            <a:p>
              <a:pPr>
                <a:defRPr b="0" i="0" strike="noStrike" sz="700" u="none">
                  <a:solidFill>
                    <a:srgbClr val="1A1A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140000"/>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Revenue by Product Category</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700" u="none">
                    <a:solidFill>
                      <a:srgbClr val="1A1A1A"/>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Packaged Chocolate</c:v>
                  </c:pt>
                  <c:pt idx="1">
                    <c:v>Flavours</c:v>
                  </c:pt>
                  <c:pt idx="2">
                    <c:v>Loose Tea</c:v>
                  </c:pt>
                  <c:pt idx="3">
                    <c:v>Branded</c:v>
                  </c:pt>
                  <c:pt idx="4">
                    <c:v>Coffee beans</c:v>
                  </c:pt>
                  <c:pt idx="5">
                    <c:v>Drinking Chocolate</c:v>
                  </c:pt>
                  <c:pt idx="6">
                    <c:v>Bakery</c:v>
                  </c:pt>
                  <c:pt idx="7">
                    <c:v>Tea</c:v>
                  </c:pt>
                  <c:pt idx="8">
                    <c:v>Coffee</c:v>
                  </c:pt>
                </c:lvl>
              </c:multiLvlStrCache>
            </c:multiLvlStrRef>
          </c:cat>
          <c:val>
            <c:numRef>
              <c:f>Sheet1!$B$2:$B$10</c:f>
              <c:numCache>
                <c:formatCode>General</c:formatCode>
                <c:ptCount val="9"/>
                <c:pt idx="0">
                  <c:v>3101.11</c:v>
                </c:pt>
                <c:pt idx="1">
                  <c:v>5663.200000000001</c:v>
                </c:pt>
                <c:pt idx="2">
                  <c:v>7564.349999999999</c:v>
                </c:pt>
                <c:pt idx="3">
                  <c:v>8956</c:v>
                </c:pt>
                <c:pt idx="4">
                  <c:v>26469.55</c:v>
                </c:pt>
                <c:pt idx="5">
                  <c:v>48592.25</c:v>
                </c:pt>
                <c:pt idx="6">
                  <c:v>55464.77</c:v>
                </c:pt>
                <c:pt idx="7">
                  <c:v>131354.75</c:v>
                </c:pt>
                <c:pt idx="8">
                  <c:v>179388.15</c:v>
                </c:pt>
              </c:numCache>
            </c:numRef>
          </c:val>
        </c:ser>
        <c:dLbls>
          <c:numFmt formatCode="#,##0" sourceLinked="0"/>
          <c:txPr>
            <a:bodyPr/>
            <a:lstStyle/>
            <a:p>
              <a:pPr>
                <a:defRPr b="0" i="0" strike="noStrike" sz="7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4"/>
        <c:crosses val="autoZero"/>
        <c:crossBetween val="between"/>
        <c:majorUnit val="50000"/>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Top 10 Product Types by Revenue</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700" u="none">
                    <a:solidFill>
                      <a:srgbClr val="1A1A1A"/>
                    </a:solidFill>
                    <a:latin typeface="Calibri"/>
                  </a:defRPr>
                </a:pPr>
              </a:p>
            </c:txPr>
            <c:showLegendKey val="0"/>
            <c:showVal val="0"/>
            <c:showCatName val="0"/>
            <c:showSerName val="0"/>
            <c:showPercent val="0"/>
            <c:showBubbleSize val="0"/>
            <c:showLeaderLines val="0"/>
          </c:dLbls>
          <c:cat>
            <c:multiLvlStrRef>
              <c:f>Sheet1!$A$2:$A$11</c:f>
              <c:multiLvlStrCache>
                <c:ptCount val="10"/>
                <c:lvl>
                  <c:pt idx="0">
                    <c:v>Drip coffee</c:v>
                  </c:pt>
                  <c:pt idx="1">
                    <c:v>Scone</c:v>
                  </c:pt>
                  <c:pt idx="2">
                    <c:v>Organic brewed coffee</c:v>
                  </c:pt>
                  <c:pt idx="3">
                    <c:v>Premium brewed coffee</c:v>
                  </c:pt>
                  <c:pt idx="4">
                    <c:v>Brewed herbal tea</c:v>
                  </c:pt>
                  <c:pt idx="5">
                    <c:v>Brewed Black tea</c:v>
                  </c:pt>
                  <c:pt idx="6">
                    <c:v>Gourmet brewed coffee</c:v>
                  </c:pt>
                  <c:pt idx="7">
                    <c:v>Hot chocolate</c:v>
                  </c:pt>
                  <c:pt idx="8">
                    <c:v>Brewed Chai tea</c:v>
                  </c:pt>
                  <c:pt idx="9">
                    <c:v>Barista Espresso</c:v>
                  </c:pt>
                </c:lvl>
              </c:multiLvlStrCache>
            </c:multiLvlStrRef>
          </c:cat>
          <c:val>
            <c:numRef>
              <c:f>Sheet1!$B$2:$B$11</c:f>
              <c:numCache>
                <c:formatCode>General</c:formatCode>
                <c:ptCount val="10"/>
                <c:pt idx="0">
                  <c:v>21138</c:v>
                </c:pt>
                <c:pt idx="1">
                  <c:v>24678.26</c:v>
                </c:pt>
                <c:pt idx="2">
                  <c:v>25298.8</c:v>
                </c:pt>
                <c:pt idx="3">
                  <c:v>25961.8</c:v>
                </c:pt>
                <c:pt idx="4">
                  <c:v>31556.5</c:v>
                </c:pt>
                <c:pt idx="5">
                  <c:v>32271.5</c:v>
                </c:pt>
                <c:pt idx="6">
                  <c:v>46312.8</c:v>
                </c:pt>
                <c:pt idx="7">
                  <c:v>48592.25</c:v>
                </c:pt>
                <c:pt idx="8">
                  <c:v>51507.75</c:v>
                </c:pt>
                <c:pt idx="9">
                  <c:v>60676.75</c:v>
                </c:pt>
              </c:numCache>
            </c:numRef>
          </c:val>
        </c:ser>
        <c:dLbls>
          <c:numFmt formatCode="#,##0" sourceLinked="0"/>
          <c:txPr>
            <a:bodyPr/>
            <a:lstStyle/>
            <a:p>
              <a:pPr>
                <a:defRPr b="0" i="0" strike="noStrike" sz="700" u="none">
                  <a:solidFill>
                    <a:srgbClr val="1A1A1A"/>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4"/>
        <c:crosses val="autoZero"/>
        <c:crossBetween val="between"/>
        <c:majorUnit val="20000"/>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Units Sold by Product Category</a:t>
            </a:r>
          </a:p>
        </c:rich>
      </c:tx>
      <c:layout/>
      <c:overlay val="0"/>
    </c:title>
    <c:autoTitleDeleted val="0"/>
    <c:plotArea>
      <c:layout/>
      <c:barChart>
        <c:barDir val="col"/>
        <c:grouping val="clustered"/>
        <c:varyColors val="0"/>
        <c:ser>
          <c:idx val="0"/>
          <c:order val="0"/>
          <c:tx>
            <c:strRef>
              <c:f>Sheet1!$B$1</c:f>
              <c:strCache>
                <c:ptCount val="1"/>
                <c:pt idx="0">
                  <c:v>Units sold</c:v>
                </c:pt>
              </c:strCache>
            </c:strRef>
          </c:tx>
          <c:spPr>
            <a:solidFill>
              <a:srgbClr val="6F4E37"/>
            </a:solidFill>
            <a:effectLst/>
          </c:spPr>
          <c:invertIfNegative val="0"/>
          <c:dLbls>
            <c:numFmt formatCode="#,##0" sourceLinked="0"/>
            <c:txPr>
              <a:bodyPr/>
              <a:lstStyle/>
              <a:p>
                <a:pPr>
                  <a:defRPr b="0" i="0" strike="noStrike" sz="1000" u="none">
                    <a:solidFill>
                      <a:srgbClr val="1A1A1A"/>
                    </a:solidFill>
                    <a:latin typeface="Calibri"/>
                  </a:defRPr>
                </a:pPr>
              </a:p>
            </c:txPr>
            <c:showLegendKey val="0"/>
            <c:showVal val="0"/>
            <c:showCatName val="0"/>
            <c:showSerName val="0"/>
            <c:showPercent val="0"/>
            <c:showBubbleSize val="0"/>
            <c:showLeaderLines val="0"/>
          </c:dLbls>
          <c:cat>
            <c:multiLvlStrRef>
              <c:f>Sheet1!$A$2:$A$10</c:f>
              <c:multiLvlStrCache>
                <c:ptCount val="9"/>
                <c:lvl>
                  <c:pt idx="0">
                    <c:v>Coffee</c:v>
                  </c:pt>
                  <c:pt idx="1">
                    <c:v>Tea</c:v>
                  </c:pt>
                  <c:pt idx="2">
                    <c:v>Bakery</c:v>
                  </c:pt>
                  <c:pt idx="3">
                    <c:v>Drinking Chocolate</c:v>
                  </c:pt>
                  <c:pt idx="4">
                    <c:v>Flavours</c:v>
                  </c:pt>
                  <c:pt idx="5">
                    <c:v>Coffee beans</c:v>
                  </c:pt>
                  <c:pt idx="6">
                    <c:v>Loose Tea</c:v>
                  </c:pt>
                  <c:pt idx="7">
                    <c:v>Branded</c:v>
                  </c:pt>
                  <c:pt idx="8">
                    <c:v>Packaged Chocolate</c:v>
                  </c:pt>
                </c:lvl>
              </c:multiLvlStrCache>
            </c:multiLvlStrRef>
          </c:cat>
          <c:val>
            <c:numRef>
              <c:f>Sheet1!$B$2:$B$10</c:f>
              <c:numCache>
                <c:formatCode>General</c:formatCode>
                <c:ptCount val="9"/>
                <c:pt idx="0">
                  <c:v>59260</c:v>
                </c:pt>
                <c:pt idx="1">
                  <c:v>46656</c:v>
                </c:pt>
                <c:pt idx="2">
                  <c:v>15624</c:v>
                </c:pt>
                <c:pt idx="3">
                  <c:v>11713</c:v>
                </c:pt>
                <c:pt idx="4">
                  <c:v>7079</c:v>
                </c:pt>
                <c:pt idx="5">
                  <c:v>1221</c:v>
                </c:pt>
                <c:pt idx="6">
                  <c:v>817</c:v>
                </c:pt>
                <c:pt idx="7">
                  <c:v>515</c:v>
                </c:pt>
                <c:pt idx="8">
                  <c:v>340</c:v>
                </c:pt>
              </c:numCache>
            </c:numRef>
          </c:val>
        </c:ser>
        <c:dLbls>
          <c:numFmt formatCode="#,##0" sourceLinked="0"/>
          <c:txPr>
            <a:bodyPr/>
            <a:lstStyle/>
            <a:p>
              <a:pPr>
                <a:defRPr b="0" i="0" strike="noStrike" sz="1000" u="none">
                  <a:solidFill>
                    <a:srgbClr val="1A1A1A"/>
                  </a:solidFill>
                  <a:latin typeface="Calibri"/>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Revenue by 30-Minute Time Interval</a:t>
            </a:r>
          </a:p>
        </c:rich>
      </c:tx>
      <c:layout/>
      <c:overlay val="0"/>
    </c:title>
    <c:autoTitleDeleted val="0"/>
    <c:plotArea>
      <c:layout/>
      <c:lineChart>
        <c:varyColors val="0"/>
        <c:ser>
          <c:idx val="0"/>
          <c:order val="0"/>
          <c:tx>
            <c:strRef>
              <c:f>Sheet1!$B$1</c:f>
              <c:strCache>
                <c:ptCount val="1"/>
                <c:pt idx="0">
                  <c:v>Revenue</c:v>
                </c:pt>
              </c:strCache>
            </c:strRef>
          </c:tx>
          <c:spPr>
            <a:solidFill>
              <a:srgbClr val="6F4E37"/>
            </a:solidFill>
            <a:ln w="25400" cap="flat">
              <a:solidFill>
                <a:srgbClr val="6F4E37"/>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4"/>
            <c:spPr>
              <a:solidFill>
                <a:srgbClr val="6F4E37"/>
              </a:solidFill>
              <a:ln w="9525" cap="flat">
                <a:solidFill>
                  <a:srgbClr val="6F4E37"/>
                </a:solidFill>
                <a:prstDash val="solid"/>
                <a:round/>
              </a:ln>
              <a:effectLst/>
            </c:spPr>
          </c:marker>
          <c:cat>
            <c:multiLvlStrRef>
              <c:f>Sheet1!$A$2:$A$31</c:f>
              <c:multiLvlStrCache>
                <c:ptCount val="30"/>
                <c:lvl>
                  <c:pt idx="0">
                    <c:v>06:00</c:v>
                  </c:pt>
                  <c:pt idx="1">
                    <c:v>06:30</c:v>
                  </c:pt>
                  <c:pt idx="2">
                    <c:v>07:00</c:v>
                  </c:pt>
                  <c:pt idx="3">
                    <c:v>07:30</c:v>
                  </c:pt>
                  <c:pt idx="4">
                    <c:v>08:00</c:v>
                  </c:pt>
                  <c:pt idx="5">
                    <c:v>08:30</c:v>
                  </c:pt>
                  <c:pt idx="6">
                    <c:v>09:00</c:v>
                  </c:pt>
                  <c:pt idx="7">
                    <c:v>09:30</c:v>
                  </c:pt>
                  <c:pt idx="8">
                    <c:v>10:00</c:v>
                  </c:pt>
                  <c:pt idx="9">
                    <c:v>10:30</c:v>
                  </c:pt>
                  <c:pt idx="10">
                    <c:v>11:00</c:v>
                  </c:pt>
                  <c:pt idx="11">
                    <c:v>11:30</c:v>
                  </c:pt>
                  <c:pt idx="12">
                    <c:v>12:00</c:v>
                  </c:pt>
                  <c:pt idx="13">
                    <c:v>12:30</c:v>
                  </c:pt>
                  <c:pt idx="14">
                    <c:v>13:00</c:v>
                  </c:pt>
                  <c:pt idx="15">
                    <c:v>13:30</c:v>
                  </c:pt>
                  <c:pt idx="16">
                    <c:v>14:00</c:v>
                  </c:pt>
                  <c:pt idx="17">
                    <c:v>14:30</c:v>
                  </c:pt>
                  <c:pt idx="18">
                    <c:v>15:00</c:v>
                  </c:pt>
                  <c:pt idx="19">
                    <c:v>15:30</c:v>
                  </c:pt>
                  <c:pt idx="20">
                    <c:v>16:00</c:v>
                  </c:pt>
                  <c:pt idx="21">
                    <c:v>16:30</c:v>
                  </c:pt>
                  <c:pt idx="22">
                    <c:v>17:00</c:v>
                  </c:pt>
                  <c:pt idx="23">
                    <c:v>17:30</c:v>
                  </c:pt>
                  <c:pt idx="24">
                    <c:v>18:00</c:v>
                  </c:pt>
                  <c:pt idx="25">
                    <c:v>18:30</c:v>
                  </c:pt>
                  <c:pt idx="26">
                    <c:v>19:00</c:v>
                  </c:pt>
                  <c:pt idx="27">
                    <c:v>19:30</c:v>
                  </c:pt>
                  <c:pt idx="28">
                    <c:v>20:00</c:v>
                  </c:pt>
                  <c:pt idx="29">
                    <c:v>20:30</c:v>
                  </c:pt>
                </c:lvl>
              </c:multiLvlStrCache>
            </c:multiLvlStrRef>
          </c:cat>
          <c:val>
            <c:numRef>
              <c:f>Sheet1!$B$2:$B$31</c:f>
              <c:numCache>
                <c:formatCode>General</c:formatCode>
                <c:ptCount val="30"/>
                <c:pt idx="0">
                  <c:v>4307.9</c:v>
                </c:pt>
                <c:pt idx="1">
                  <c:v>10221.04</c:v>
                </c:pt>
                <c:pt idx="2">
                  <c:v>20115.08</c:v>
                </c:pt>
                <c:pt idx="3">
                  <c:v>22568.89</c:v>
                </c:pt>
                <c:pt idx="4">
                  <c:v>27272.29</c:v>
                </c:pt>
                <c:pt idx="5">
                  <c:v>27507.32</c:v>
                </c:pt>
                <c:pt idx="6">
                  <c:v>28292.81</c:v>
                </c:pt>
                <c:pt idx="7">
                  <c:v>28428.98</c:v>
                </c:pt>
                <c:pt idx="8">
                  <c:v>29105.97</c:v>
                </c:pt>
                <c:pt idx="9">
                  <c:v>29579.02</c:v>
                </c:pt>
                <c:pt idx="10">
                  <c:v>17212.23</c:v>
                </c:pt>
                <c:pt idx="11">
                  <c:v>13743.94</c:v>
                </c:pt>
                <c:pt idx="12">
                  <c:v>13785.29</c:v>
                </c:pt>
                <c:pt idx="13">
                  <c:v>13455.36</c:v>
                </c:pt>
                <c:pt idx="14">
                  <c:v>13328.46</c:v>
                </c:pt>
                <c:pt idx="15">
                  <c:v>13362.7</c:v>
                </c:pt>
                <c:pt idx="16">
                  <c:v>14458.82</c:v>
                </c:pt>
                <c:pt idx="17">
                  <c:v>13177.09</c:v>
                </c:pt>
                <c:pt idx="18">
                  <c:v>13599.17</c:v>
                </c:pt>
                <c:pt idx="19">
                  <c:v>14321.84</c:v>
                </c:pt>
                <c:pt idx="20">
                  <c:v>14218.95</c:v>
                </c:pt>
                <c:pt idx="21">
                  <c:v>13531.64</c:v>
                </c:pt>
                <c:pt idx="22">
                  <c:v>13386.65</c:v>
                </c:pt>
                <c:pt idx="23">
                  <c:v>13817.37</c:v>
                </c:pt>
                <c:pt idx="24">
                  <c:v>12939.95</c:v>
                </c:pt>
                <c:pt idx="25">
                  <c:v>9892.91</c:v>
                </c:pt>
                <c:pt idx="26">
                  <c:v>9682.2</c:v>
                </c:pt>
                <c:pt idx="27">
                  <c:v>9445.35</c:v>
                </c:pt>
                <c:pt idx="28">
                  <c:v>873.36</c:v>
                </c:pt>
                <c:pt idx="29">
                  <c:v>921.55</c:v>
                </c:pt>
              </c:numCache>
            </c:numRef>
          </c:val>
          <c:smooth val="0"/>
        </c:ser>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18900000"/>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35000"/>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Revenue by Store Location</a:t>
            </a:r>
          </a:p>
        </c:rich>
      </c:tx>
      <c:layout/>
      <c:overlay val="0"/>
    </c:title>
    <c:autoTitleDeleted val="0"/>
    <c:plotArea>
      <c:layout/>
      <c:barChart>
        <c:barDir val="bar"/>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700" u="none">
                    <a:solidFill>
                      <a:srgbClr val="1A1A1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Lower Manhattan</c:v>
                  </c:pt>
                  <c:pt idx="1">
                    <c:v>Astoria</c:v>
                  </c:pt>
                  <c:pt idx="2">
                    <c:v>Hell's Kitchen</c:v>
                  </c:pt>
                </c:lvl>
              </c:multiLvlStrCache>
            </c:multiLvlStrRef>
          </c:cat>
          <c:val>
            <c:numRef>
              <c:f>Sheet1!$B$2:$B$4</c:f>
              <c:numCache>
                <c:formatCode>General</c:formatCode>
                <c:ptCount val="3"/>
                <c:pt idx="0">
                  <c:v>152579.27</c:v>
                </c:pt>
                <c:pt idx="1">
                  <c:v>154755.58</c:v>
                </c:pt>
                <c:pt idx="2">
                  <c:v>159219.28</c:v>
                </c:pt>
              </c:numCache>
            </c:numRef>
          </c:val>
        </c:ser>
        <c:dLbls>
          <c:numFmt formatCode="#,##0" sourceLinked="0"/>
          <c:txPr>
            <a:bodyPr/>
            <a:lstStyle/>
            <a:p>
              <a:pPr>
                <a:defRPr b="0" i="0" strike="noStrike" sz="7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2"/>
        <c:crosses val="autoZero"/>
        <c:auto val="1"/>
        <c:lblAlgn val="ctr"/>
        <c:noMultiLvlLbl val="1"/>
        <c:tickLblSkip val="1"/>
      </c:catAx>
      <c:valAx>
        <c:axId val="2094734552"/>
        <c:scaling>
          <c:orientation val="minMax"/>
          <c:min val="0"/>
        </c:scaling>
        <c:delete val="0"/>
        <c:axPos val="b"/>
        <c:majorGridlines>
          <c:spPr>
            <a:ln w="9525" cap="flat">
              <a:solidFill>
                <a:srgbClr val="E6DCC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650" b="0" i="0" u="none" strike="noStrike">
                <a:solidFill>
                  <a:srgbClr val="3D3D3D"/>
                </a:solidFill>
                <a:latin typeface="Calibri"/>
              </a:defRPr>
            </a:pPr>
            <a:endParaRPr lang="en-US"/>
          </a:p>
        </c:txPr>
        <c:crossAx val="2094734554"/>
        <c:crosses val="autoZero"/>
        <c:crossBetween val="between"/>
        <c:majorUnit val="50000"/>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Monthly Revenue by Store Location</a:t>
            </a:r>
          </a:p>
        </c:rich>
      </c:tx>
      <c:layout/>
      <c:overlay val="0"/>
    </c:title>
    <c:autoTitleDeleted val="0"/>
    <c:plotArea>
      <c:layout/>
      <c:lineChart>
        <c:varyColors val="0"/>
        <c:ser>
          <c:idx val="0"/>
          <c:order val="0"/>
          <c:tx>
            <c:strRef>
              <c:f>Sheet1!$B$1</c:f>
              <c:strCache>
                <c:ptCount val="1"/>
                <c:pt idx="0">
                  <c:v>Hell's Kitchen</c:v>
                </c:pt>
              </c:strCache>
            </c:strRef>
          </c:tx>
          <c:spPr>
            <a:solidFill>
              <a:srgbClr val="6F4E37"/>
            </a:solidFill>
            <a:ln w="25400" cap="flat">
              <a:solidFill>
                <a:srgbClr val="6F4E37"/>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5"/>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27820.65</c:v>
                </c:pt>
                <c:pt idx="1">
                  <c:v>25719.8</c:v>
                </c:pt>
                <c:pt idx="2">
                  <c:v>33110.57</c:v>
                </c:pt>
                <c:pt idx="3">
                  <c:v>40304.14</c:v>
                </c:pt>
                <c:pt idx="4">
                  <c:v>32264.12</c:v>
                </c:pt>
              </c:numCache>
            </c:numRef>
          </c:val>
          <c:smooth val="0"/>
        </c:ser>
        <c:ser>
          <c:idx val="1"/>
          <c:order val="1"/>
          <c:tx>
            <c:strRef>
              <c:f>Sheet1!$C$1</c:f>
              <c:strCache>
                <c:ptCount val="1"/>
                <c:pt idx="0">
                  <c:v>Astoria</c:v>
                </c:pt>
              </c:strCache>
            </c:strRef>
          </c:tx>
          <c:spPr>
            <a:solidFill>
              <a:srgbClr val="1A1A1A"/>
            </a:solidFill>
            <a:ln w="25400" cap="flat">
              <a:solidFill>
                <a:srgbClr val="1A1A1A"/>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5"/>
            <c:spPr>
              <a:solidFill>
                <a:srgbClr val="1A1A1A"/>
              </a:solidFill>
              <a:ln w="9525" cap="flat">
                <a:solidFill>
                  <a:srgbClr val="1A1A1A"/>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Sheet1!$C$2:$C$6</c:f>
              <c:numCache>
                <c:formatCode>General</c:formatCode>
                <c:ptCount val="5"/>
                <c:pt idx="0">
                  <c:v>27313.66</c:v>
                </c:pt>
                <c:pt idx="1">
                  <c:v>25105.34</c:v>
                </c:pt>
                <c:pt idx="2">
                  <c:v>32835.43</c:v>
                </c:pt>
                <c:pt idx="3">
                  <c:v>39477.61</c:v>
                </c:pt>
                <c:pt idx="4">
                  <c:v>30023.54</c:v>
                </c:pt>
              </c:numCache>
            </c:numRef>
          </c:val>
          <c:smooth val="0"/>
        </c:ser>
        <c:ser>
          <c:idx val="2"/>
          <c:order val="2"/>
          <c:tx>
            <c:strRef>
              <c:f>Sheet1!$D$1</c:f>
              <c:strCache>
                <c:ptCount val="1"/>
                <c:pt idx="0">
                  <c:v>Lower Manhattan</c:v>
                </c:pt>
              </c:strCache>
            </c:strRef>
          </c:tx>
          <c:spPr>
            <a:solidFill>
              <a:srgbClr val="C4956A"/>
            </a:solidFill>
            <a:ln w="25400" cap="flat">
              <a:solidFill>
                <a:srgbClr val="C4956A"/>
              </a:solidFill>
              <a:prstDash val="solid"/>
              <a:round/>
            </a:ln>
            <a:effectLst/>
          </c:spPr>
          <c:invertIfNegative val="0"/>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c:symbol val="circle"/>
            <c:size val="5"/>
            <c:spPr>
              <a:solidFill>
                <a:srgbClr val="C4956A"/>
              </a:solidFill>
              <a:ln w="9525" cap="flat">
                <a:solidFill>
                  <a:srgbClr val="C4956A"/>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Sheet1!$D$2:$D$6</c:f>
              <c:numCache>
                <c:formatCode>General</c:formatCode>
                <c:ptCount val="5"/>
                <c:pt idx="0">
                  <c:v>26543.43</c:v>
                </c:pt>
                <c:pt idx="1">
                  <c:v>25320.05</c:v>
                </c:pt>
                <c:pt idx="2">
                  <c:v>32888.68</c:v>
                </c:pt>
                <c:pt idx="3">
                  <c:v>39159.33</c:v>
                </c:pt>
                <c:pt idx="4">
                  <c:v>28667.78</c:v>
                </c:pt>
              </c:numCache>
            </c:numRef>
          </c:val>
          <c:smooth val="0"/>
        </c:ser>
        <c:dLbls>
          <c:numFmt formatCode="#,##0" sourceLinked="0"/>
          <c:txPr>
            <a:bodyPr/>
            <a:lstStyle/>
            <a:p>
              <a:pPr>
                <a:defRPr b="0" i="0" strike="noStrike" sz="1200" u="none">
                  <a:solidFill>
                    <a:srgbClr val="1A1A1A"/>
                  </a:solidFill>
                  <a:latin typeface="Calibr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45000"/>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7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Average Daily Revenue by Month</a:t>
            </a:r>
          </a:p>
        </c:rich>
      </c:tx>
      <c:layout/>
      <c:overlay val="0"/>
    </c:title>
    <c:autoTitleDeleted val="0"/>
    <c:plotArea>
      <c:layout/>
      <c:lineChart>
        <c:varyColors val="0"/>
        <c:ser>
          <c:idx val="0"/>
          <c:order val="0"/>
          <c:tx>
            <c:strRef>
              <c:f>Sheet1!$B$1</c:f>
              <c:strCache>
                <c:ptCount val="1"/>
                <c:pt idx="0">
                  <c:v>Average daily revenue</c:v>
                </c:pt>
              </c:strCache>
            </c:strRef>
          </c:tx>
          <c:spPr>
            <a:solidFill>
              <a:srgbClr val="6F4E37"/>
            </a:solidFill>
            <a:ln w="25400" cap="flat">
              <a:solidFill>
                <a:srgbClr val="6F4E37"/>
              </a:solidFill>
              <a:prstDash val="solid"/>
              <a:round/>
            </a:ln>
            <a:effectLst/>
          </c:spPr>
          <c:invertIfNegative val="0"/>
          <c:dLbls>
            <c:numFmt formatCode="#,##0" sourceLinked="0"/>
            <c:txPr>
              <a:bodyPr/>
              <a:lstStyle/>
              <a:p>
                <a:pPr>
                  <a:defRPr b="0" i="0" strike="noStrike" sz="700" u="none">
                    <a:solidFill>
                      <a:srgbClr val="1A1A1A"/>
                    </a:solidFill>
                    <a:latin typeface="Calibri"/>
                  </a:defRPr>
                </a:pPr>
              </a:p>
            </c:txPr>
            <c:dLblPos val="t"/>
            <c:showLegendKey val="0"/>
            <c:showVal val="1"/>
            <c:showCatName val="0"/>
            <c:showSerName val="0"/>
            <c:showPercent val="0"/>
            <c:showBubbleSize val="0"/>
            <c:showLeaderLines val="0"/>
          </c:dLbls>
          <c:marker>
            <c:symbol val="circle"/>
            <c:size val="6"/>
            <c:spPr>
              <a:solidFill>
                <a:srgbClr val="6F4E37"/>
              </a:solidFill>
              <a:ln w="9525" cap="flat">
                <a:solidFill>
                  <a:srgbClr val="6F4E37"/>
                </a:solidFill>
                <a:prstDash val="solid"/>
                <a:round/>
              </a:ln>
              <a:effectLst/>
            </c:spPr>
          </c:marker>
          <c:cat>
            <c:multiLvlStrRef>
              <c:f>Sheet1!$A$2:$A$6</c:f>
              <c:multiLvlStrCache>
                <c:ptCount val="5"/>
                <c:lvl>
                  <c:pt idx="0">
                    <c:v>Jan 2023</c:v>
                  </c:pt>
                  <c:pt idx="1">
                    <c:v>Feb 2023</c:v>
                  </c:pt>
                  <c:pt idx="2">
                    <c:v>Mar 2023</c:v>
                  </c:pt>
                  <c:pt idx="3">
                    <c:v>Apr 2023</c:v>
                  </c:pt>
                  <c:pt idx="4">
                    <c:v>May 2023*</c:v>
                  </c:pt>
                </c:lvl>
              </c:multiLvlStrCache>
            </c:multiLvlStrRef>
          </c:cat>
          <c:val>
            <c:numRef>
              <c:f>Sheet1!$B$2:$B$6</c:f>
              <c:numCache>
                <c:formatCode>General</c:formatCode>
                <c:ptCount val="5"/>
                <c:pt idx="0">
                  <c:v>2634.765806451613</c:v>
                </c:pt>
                <c:pt idx="1">
                  <c:v>2719.4710714285716</c:v>
                </c:pt>
                <c:pt idx="2">
                  <c:v>3188.2154838709675</c:v>
                </c:pt>
                <c:pt idx="3">
                  <c:v>3964.7026666666666</c:v>
                </c:pt>
                <c:pt idx="4">
                  <c:v>4787.128421052632</c:v>
                </c:pt>
              </c:numCache>
            </c:numRef>
          </c:val>
          <c:smooth val="0"/>
        </c:ser>
        <c:dLbls>
          <c:numFmt formatCode="#,##0" sourceLinked="0"/>
          <c:txPr>
            <a:bodyPr/>
            <a:lstStyle/>
            <a:p>
              <a:pPr>
                <a:defRPr b="0" i="0" strike="noStrike" sz="700" u="none">
                  <a:solidFill>
                    <a:srgbClr val="1A1A1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6000"/>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1A1A1A"/>
                </a:solidFill>
                <a:latin typeface="Calibri"/>
              </a:defRPr>
            </a:pPr>
            <a:r>
              <a:rPr sz="900" b="0" i="0" u="none" strike="noStrike">
                <a:solidFill>
                  <a:srgbClr val="1A1A1A"/>
                </a:solidFill>
                <a:latin typeface="Calibri"/>
              </a:rPr>
              <a:t>Revenue by Day of Week</a:t>
            </a:r>
          </a:p>
        </c:rich>
      </c:tx>
      <c:layout/>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6F4E37"/>
            </a:solidFill>
            <a:effectLst/>
          </c:spPr>
          <c:invertIfNegative val="0"/>
          <c:dLbls>
            <c:numFmt formatCode="#,##0" sourceLinked="0"/>
            <c:txPr>
              <a:bodyPr/>
              <a:lstStyle/>
              <a:p>
                <a:pPr>
                  <a:defRPr b="0" i="0" strike="noStrike" sz="600" u="none">
                    <a:solidFill>
                      <a:srgbClr val="1A1A1A"/>
                    </a:solidFill>
                    <a:latin typeface="Calibri"/>
                  </a:defRPr>
                </a:pPr>
              </a:p>
            </c:txPr>
            <c:showLegendKey val="0"/>
            <c:showVal val="1"/>
            <c:showCatName val="0"/>
            <c:showSerName val="0"/>
            <c:showPercent val="0"/>
            <c:showBubbleSize val="0"/>
            <c:showLeaderLines val="0"/>
          </c:dLbls>
          <c:cat>
            <c:multiLvlStrRef>
              <c:f>Sheet1!$A$2:$A$8</c:f>
              <c:multiLvlStrCache>
                <c:ptCount val="7"/>
                <c:lvl>
                  <c:pt idx="0">
                    <c:v>Mon</c:v>
                  </c:pt>
                  <c:pt idx="1">
                    <c:v>Tue</c:v>
                  </c:pt>
                  <c:pt idx="2">
                    <c:v>Wed</c:v>
                  </c:pt>
                  <c:pt idx="3">
                    <c:v>Thu</c:v>
                  </c:pt>
                  <c:pt idx="4">
                    <c:v>Fri</c:v>
                  </c:pt>
                  <c:pt idx="5">
                    <c:v>Sat</c:v>
                  </c:pt>
                  <c:pt idx="6">
                    <c:v>Sun</c:v>
                  </c:pt>
                </c:lvl>
              </c:multiLvlStrCache>
            </c:multiLvlStrRef>
          </c:cat>
          <c:val>
            <c:numRef>
              <c:f>Sheet1!$B$2:$B$8</c:f>
              <c:numCache>
                <c:formatCode>General</c:formatCode>
                <c:ptCount val="7"/>
                <c:pt idx="0">
                  <c:v>69656.96</c:v>
                </c:pt>
                <c:pt idx="1">
                  <c:v>67118.98</c:v>
                </c:pt>
                <c:pt idx="2">
                  <c:v>68981.06</c:v>
                </c:pt>
                <c:pt idx="3">
                  <c:v>68286.25</c:v>
                </c:pt>
                <c:pt idx="4">
                  <c:v>63075.78</c:v>
                </c:pt>
                <c:pt idx="5">
                  <c:v>62998.95</c:v>
                </c:pt>
                <c:pt idx="6">
                  <c:v>66436.15</c:v>
                </c:pt>
              </c:numCache>
            </c:numRef>
          </c:val>
        </c:ser>
        <c:dLbls>
          <c:numFmt formatCode="#,##0" sourceLinked="0"/>
          <c:txPr>
            <a:bodyPr/>
            <a:lstStyle/>
            <a:p>
              <a:pPr>
                <a:defRPr b="0" i="0" strike="noStrike" sz="600" u="none">
                  <a:solidFill>
                    <a:srgbClr val="1A1A1A"/>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2"/>
        <c:crosses val="autoZero"/>
        <c:auto val="1"/>
        <c:lblAlgn val="ctr"/>
        <c:noMultiLvlLbl val="1"/>
      </c:catAx>
      <c:valAx>
        <c:axId val="2094734552"/>
        <c:scaling>
          <c:orientation val="minMax"/>
          <c:max val="80000"/>
          <c:min val="0"/>
        </c:scaling>
        <c:delete val="0"/>
        <c:axPos val="l"/>
        <c:majorGridlines>
          <c:spPr>
            <a:ln w="9525" cap="flat">
              <a:solidFill>
                <a:srgbClr val="E6DC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3D3D3D"/>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1.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chart" Target="/ppt/charts/chart12.xml"/><Relationship Id="rId4" Type="http://schemas.openxmlformats.org/officeDocument/2006/relationships/chart" Target="/ppt/charts/chart13.xml"/><Relationship Id="rId5" Type="http://schemas.openxmlformats.org/officeDocument/2006/relationships/chart" Target="/ppt/charts/chart14.xml"/><Relationship Id="rId6" Type="http://schemas.openxmlformats.org/officeDocument/2006/relationships/chart" Target="/ppt/charts/chart15.xml"/><Relationship Id="rId7" Type="http://schemas.openxmlformats.org/officeDocument/2006/relationships/chart" Target="/ppt/charts/chart16.xml"/><Relationship Id="rId8" Type="http://schemas.openxmlformats.org/officeDocument/2006/relationships/chart" Target="/ppt/charts/chart17.xml"/><Relationship Id="rId9" Type="http://schemas.openxmlformats.org/officeDocument/2006/relationships/chart" Target="/ppt/charts/chart18.xml"/><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A12"/>
        </a:solidFill>
      </p:bgPr>
    </p:bg>
    <p:spTree>
      <p:nvGrpSpPr>
        <p:cNvPr id="1" name=""/>
        <p:cNvGrpSpPr/>
        <p:nvPr/>
      </p:nvGrpSpPr>
      <p:grpSpPr>
        <a:xfrm>
          <a:off x="0" y="0"/>
          <a:ext cx="0" cy="0"/>
          <a:chOff x="0" y="0"/>
          <a:chExt cx="0" cy="0"/>
        </a:xfrm>
      </p:grpSpPr>
      <p:sp>
        <p:nvSpPr>
          <p:cNvPr id="2" name="Shape 0"/>
          <p:cNvSpPr/>
          <p:nvPr/>
        </p:nvSpPr>
        <p:spPr>
          <a:xfrm>
            <a:off x="6766560" y="868680"/>
            <a:ext cx="5120640" cy="5120640"/>
          </a:xfrm>
          <a:prstGeom prst="ellipse">
            <a:avLst/>
          </a:prstGeom>
          <a:solidFill>
            <a:srgbClr val="3A251A"/>
          </a:solidFill>
          <a:ln w="12700">
            <a:solidFill>
              <a:srgbClr val="3A251A"/>
            </a:solidFill>
            <a:prstDash val="solid"/>
          </a:ln>
        </p:spPr>
      </p:sp>
      <p:sp>
        <p:nvSpPr>
          <p:cNvPr id="3" name="Shape 1"/>
          <p:cNvSpPr/>
          <p:nvPr/>
        </p:nvSpPr>
        <p:spPr>
          <a:xfrm>
            <a:off x="7223760" y="1325880"/>
            <a:ext cx="4206240" cy="4206240"/>
          </a:xfrm>
          <a:prstGeom prst="ellipse">
            <a:avLst/>
          </a:prstGeom>
          <a:solidFill>
            <a:srgbClr val="F5EDE0"/>
          </a:solidFill>
          <a:ln w="12700">
            <a:solidFill>
              <a:srgbClr val="F5EDE0"/>
            </a:solidFill>
            <a:prstDash val="solid"/>
          </a:ln>
        </p:spPr>
      </p:sp>
      <p:sp>
        <p:nvSpPr>
          <p:cNvPr id="4" name="Shape 2"/>
          <p:cNvSpPr/>
          <p:nvPr/>
        </p:nvSpPr>
        <p:spPr>
          <a:xfrm>
            <a:off x="7543800" y="1645920"/>
            <a:ext cx="3566160" cy="3566160"/>
          </a:xfrm>
          <a:prstGeom prst="ellipse">
            <a:avLst/>
          </a:prstGeom>
          <a:solidFill>
            <a:srgbClr val="D9C7AD"/>
          </a:solidFill>
          <a:ln w="12700">
            <a:solidFill>
              <a:srgbClr val="D9C7AD"/>
            </a:solidFill>
            <a:prstDash val="solid"/>
          </a:ln>
        </p:spPr>
      </p:sp>
      <p:sp>
        <p:nvSpPr>
          <p:cNvPr id="5" name="Shape 3"/>
          <p:cNvSpPr/>
          <p:nvPr/>
        </p:nvSpPr>
        <p:spPr>
          <a:xfrm>
            <a:off x="7863840" y="1965960"/>
            <a:ext cx="2926080" cy="2926080"/>
          </a:xfrm>
          <a:prstGeom prst="ellipse">
            <a:avLst/>
          </a:prstGeom>
          <a:solidFill>
            <a:srgbClr val="6F4E37"/>
          </a:solidFill>
          <a:ln w="12700">
            <a:solidFill>
              <a:srgbClr val="6F4E37"/>
            </a:solidFill>
            <a:prstDash val="solid"/>
          </a:ln>
        </p:spPr>
      </p:sp>
      <p:sp>
        <p:nvSpPr>
          <p:cNvPr id="6" name="Shape 4"/>
          <p:cNvSpPr/>
          <p:nvPr/>
        </p:nvSpPr>
        <p:spPr>
          <a:xfrm>
            <a:off x="8412480" y="2514600"/>
            <a:ext cx="1828800" cy="1828800"/>
          </a:xfrm>
          <a:prstGeom prst="ellipse">
            <a:avLst/>
          </a:prstGeom>
          <a:solidFill>
            <a:srgbClr val="A67B5B"/>
          </a:solidFill>
          <a:ln w="12700">
            <a:solidFill>
              <a:srgbClr val="A67B5B"/>
            </a:solidFill>
            <a:prstDash val="solid"/>
          </a:ln>
        </p:spPr>
      </p:sp>
      <p:pic>
        <p:nvPicPr>
          <p:cNvPr id="7" name="Image 0" descr="preencoded.png">    </p:cNvPr>
          <p:cNvPicPr>
            <a:picLocks noChangeAspect="1"/>
          </p:cNvPicPr>
          <p:nvPr/>
        </p:nvPicPr>
        <p:blipFill>
          <a:blip r:embed="rId1"/>
          <a:stretch>
            <a:fillRect/>
          </a:stretch>
        </p:blipFill>
        <p:spPr>
          <a:xfrm>
            <a:off x="8823960" y="2926080"/>
            <a:ext cx="1005840" cy="1005840"/>
          </a:xfrm>
          <a:prstGeom prst="rect">
            <a:avLst/>
          </a:prstGeom>
        </p:spPr>
      </p:pic>
      <p:sp>
        <p:nvSpPr>
          <p:cNvPr id="8" name="Text 5"/>
          <p:cNvSpPr txBox="1"/>
          <p:nvPr/>
        </p:nvSpPr>
        <p:spPr>
          <a:xfrm>
            <a:off x="640080" y="1325880"/>
            <a:ext cx="5943600" cy="365760"/>
          </a:xfrm>
          <a:prstGeom prst="rect">
            <a:avLst/>
          </a:prstGeom>
          <a:noFill/>
          <a:ln/>
        </p:spPr>
        <p:txBody>
          <a:bodyPr wrap="square" lIns="0" tIns="0" rIns="0" bIns="0" rtlCol="0" anchor="ctr"/>
          <a:lstStyle/>
          <a:p>
            <a:pPr indent="0" marL="0">
              <a:buNone/>
            </a:pPr>
            <a:r>
              <a:rPr lang="en-US" sz="1400" b="1" spc="400" kern="0" dirty="0">
                <a:solidFill>
                  <a:srgbClr val="C4956A"/>
                </a:solidFill>
                <a:latin typeface="Calibri" pitchFamily="34" charset="0"/>
                <a:ea typeface="Calibri" pitchFamily="34" charset="-122"/>
                <a:cs typeface="Calibri" pitchFamily="34" charset="-120"/>
              </a:rPr>
              <a:t>DATA ANALYTICS PROJECT</a:t>
            </a:r>
            <a:endParaRPr lang="en-US" sz="1400" dirty="0"/>
          </a:p>
        </p:txBody>
      </p:sp>
      <p:sp>
        <p:nvSpPr>
          <p:cNvPr id="9" name="Text 6"/>
          <p:cNvSpPr txBox="1"/>
          <p:nvPr/>
        </p:nvSpPr>
        <p:spPr>
          <a:xfrm>
            <a:off x="640080" y="1783080"/>
            <a:ext cx="6035040" cy="182880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Bright Coffee Shop</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Data Analysis Project</a:t>
            </a:r>
            <a:endParaRPr lang="en-US" sz="4000" dirty="0"/>
          </a:p>
        </p:txBody>
      </p:sp>
      <p:sp>
        <p:nvSpPr>
          <p:cNvPr id="10" name="Text 7"/>
          <p:cNvSpPr txBox="1"/>
          <p:nvPr/>
        </p:nvSpPr>
        <p:spPr>
          <a:xfrm>
            <a:off x="640080" y="3429000"/>
            <a:ext cx="5943600" cy="731520"/>
          </a:xfrm>
          <a:prstGeom prst="rect">
            <a:avLst/>
          </a:prstGeom>
          <a:noFill/>
          <a:ln/>
        </p:spPr>
        <p:txBody>
          <a:bodyPr wrap="square" lIns="0" tIns="0" rIns="0" bIns="0" rtlCol="0" anchor="t"/>
          <a:lstStyle/>
          <a:p>
            <a:pPr indent="0" marL="0">
              <a:buNone/>
            </a:pPr>
            <a:r>
              <a:rPr lang="en-US" sz="1600" dirty="0">
                <a:solidFill>
                  <a:srgbClr val="E6D8C3"/>
                </a:solidFill>
                <a:latin typeface="Calibri" pitchFamily="34" charset="0"/>
                <a:ea typeface="Calibri" pitchFamily="34" charset="-122"/>
                <a:cs typeface="Calibri" pitchFamily="34" charset="-120"/>
              </a:rPr>
              <a:t>Sales performance analysis of 100,000 transactions</a:t>
            </a:r>
            <a:endParaRPr lang="en-US" sz="1600" dirty="0"/>
          </a:p>
          <a:p>
            <a:pPr indent="0" marL="0">
              <a:buNone/>
            </a:pPr>
            <a:r>
              <a:rPr lang="en-US" sz="1600" dirty="0">
                <a:solidFill>
                  <a:srgbClr val="E6D8C3"/>
                </a:solidFill>
                <a:latin typeface="Calibri" pitchFamily="34" charset="0"/>
                <a:ea typeface="Calibri" pitchFamily="34" charset="-122"/>
                <a:cs typeface="Calibri" pitchFamily="34" charset="-120"/>
              </a:rPr>
              <a:t>1 January – 19 May 2023</a:t>
            </a:r>
            <a:endParaRPr lang="en-US" sz="1600" dirty="0"/>
          </a:p>
        </p:txBody>
      </p:sp>
      <p:sp>
        <p:nvSpPr>
          <p:cNvPr id="11" name="Text 8"/>
          <p:cNvSpPr txBox="1"/>
          <p:nvPr/>
        </p:nvSpPr>
        <p:spPr>
          <a:xfrm>
            <a:off x="640080" y="4754880"/>
            <a:ext cx="5760720" cy="457200"/>
          </a:xfrm>
          <a:prstGeom prst="rect">
            <a:avLst/>
          </a:prstGeom>
          <a:noFill/>
          <a:ln/>
        </p:spPr>
        <p:txBody>
          <a:bodyPr wrap="square" lIns="0" tIns="0" rIns="0" bIns="0" rtlCol="0" anchor="ctr"/>
          <a:lstStyle/>
          <a:p>
            <a:pPr indent="0" marL="0">
              <a:buNone/>
            </a:pPr>
            <a:r>
              <a:rPr lang="en-US" sz="2000" dirty="0">
                <a:solidFill>
                  <a:srgbClr val="C4956A"/>
                </a:solidFill>
                <a:latin typeface="Calibri" pitchFamily="34" charset="0"/>
                <a:ea typeface="Calibri" pitchFamily="34" charset="-122"/>
                <a:cs typeface="Calibri" pitchFamily="34" charset="-120"/>
              </a:rPr>
              <a:t>Prepared by: </a:t>
            </a:r>
            <a:pPr indent="0" marL="0">
              <a:buNone/>
            </a:pPr>
            <a:r>
              <a:rPr lang="en-US" sz="2000" b="1" dirty="0">
                <a:solidFill>
                  <a:srgbClr val="FFFFFF"/>
                </a:solidFill>
                <a:latin typeface="Calibri" pitchFamily="34" charset="0"/>
                <a:ea typeface="Calibri" pitchFamily="34" charset="-122"/>
                <a:cs typeface="Calibri" pitchFamily="34" charset="-120"/>
              </a:rPr>
              <a:t>Ethaba Mhlongo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rgbClr val="2B1A12"/>
                </a:solidFill>
                <a:latin typeface="Cambria" pitchFamily="34" charset="0"/>
                <a:ea typeface="Cambria" pitchFamily="34" charset="-122"/>
                <a:cs typeface="Cambria" pitchFamily="34" charset="-120"/>
              </a:rPr>
              <a:t>Project Overview</a:t>
            </a:r>
            <a:endParaRPr lang="en-US" sz="30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188720"/>
            <a:ext cx="3566160" cy="2468880"/>
          </a:xfrm>
          <a:prstGeom prst="roundRect">
            <a:avLst>
              <a:gd name="adj" fmla="val 3704"/>
            </a:avLst>
          </a:prstGeom>
          <a:solidFill>
            <a:srgbClr val="F5EDE0"/>
          </a:solidFill>
          <a:ln w="12700">
            <a:solidFill>
              <a:srgbClr val="F5EDE0"/>
            </a:solidFill>
            <a:prstDash val="solid"/>
          </a:ln>
        </p:spPr>
      </p:sp>
      <p:pic>
        <p:nvPicPr>
          <p:cNvPr id="6" name="Image 0" descr="preencoded.png">    </p:cNvPr>
          <p:cNvPicPr>
            <a:picLocks noChangeAspect="1"/>
          </p:cNvPicPr>
          <p:nvPr/>
        </p:nvPicPr>
        <p:blipFill>
          <a:blip r:embed="rId1"/>
          <a:stretch>
            <a:fillRect/>
          </a:stretch>
        </p:blipFill>
        <p:spPr>
          <a:xfrm>
            <a:off x="685800" y="1389888"/>
            <a:ext cx="274320" cy="274320"/>
          </a:xfrm>
          <a:prstGeom prst="rect">
            <a:avLst/>
          </a:prstGeom>
        </p:spPr>
      </p:pic>
      <p:sp>
        <p:nvSpPr>
          <p:cNvPr id="7" name="Text 4"/>
          <p:cNvSpPr txBox="1"/>
          <p:nvPr/>
        </p:nvSpPr>
        <p:spPr>
          <a:xfrm>
            <a:off x="1051560" y="1325880"/>
            <a:ext cx="2743200" cy="411480"/>
          </a:xfrm>
          <a:prstGeom prst="rect">
            <a:avLst/>
          </a:prstGeom>
          <a:noFill/>
          <a:ln/>
        </p:spPr>
        <p:txBody>
          <a:bodyPr wrap="square" lIns="0" tIns="0" rIns="0" bIns="0" rtlCol="0" anchor="ctr"/>
          <a:lstStyle/>
          <a:p>
            <a:pPr indent="0" marL="0">
              <a:buNone/>
            </a:pPr>
            <a:r>
              <a:rPr lang="en-US" sz="1700" b="1" dirty="0">
                <a:solidFill>
                  <a:srgbClr val="6F4E37"/>
                </a:solidFill>
                <a:latin typeface="Cambria" pitchFamily="34" charset="0"/>
                <a:ea typeface="Cambria" pitchFamily="34" charset="-122"/>
                <a:cs typeface="Cambria" pitchFamily="34" charset="-120"/>
              </a:rPr>
              <a:t>Purpose</a:t>
            </a:r>
            <a:endParaRPr lang="en-US" sz="1700" dirty="0"/>
          </a:p>
        </p:txBody>
      </p:sp>
      <p:sp>
        <p:nvSpPr>
          <p:cNvPr id="8" name="Text 5"/>
          <p:cNvSpPr txBox="1"/>
          <p:nvPr/>
        </p:nvSpPr>
        <p:spPr>
          <a:xfrm>
            <a:off x="685800" y="1874520"/>
            <a:ext cx="3108960" cy="16459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Analyse Bright Coffee Shop's transaction data to understand sales performance and identify practical opportunities to grow sales.</a:t>
            </a:r>
            <a:endParaRPr lang="en-US" sz="1500" dirty="0"/>
          </a:p>
        </p:txBody>
      </p:sp>
      <p:sp>
        <p:nvSpPr>
          <p:cNvPr id="9" name="Shape 6"/>
          <p:cNvSpPr/>
          <p:nvPr/>
        </p:nvSpPr>
        <p:spPr>
          <a:xfrm>
            <a:off x="457200" y="3886200"/>
            <a:ext cx="3566160" cy="2468880"/>
          </a:xfrm>
          <a:prstGeom prst="roundRect">
            <a:avLst>
              <a:gd name="adj" fmla="val 3704"/>
            </a:avLst>
          </a:prstGeom>
          <a:solidFill>
            <a:srgbClr val="F5EDE0"/>
          </a:solidFill>
          <a:ln w="12700">
            <a:solidFill>
              <a:srgbClr val="F5EDE0"/>
            </a:solidFill>
            <a:prstDash val="solid"/>
          </a:ln>
        </p:spPr>
      </p:sp>
      <p:pic>
        <p:nvPicPr>
          <p:cNvPr id="10" name="Image 1" descr="preencoded.png">    </p:cNvPr>
          <p:cNvPicPr>
            <a:picLocks noChangeAspect="1"/>
          </p:cNvPicPr>
          <p:nvPr/>
        </p:nvPicPr>
        <p:blipFill>
          <a:blip r:embed="rId2"/>
          <a:stretch>
            <a:fillRect/>
          </a:stretch>
        </p:blipFill>
        <p:spPr>
          <a:xfrm>
            <a:off x="685800" y="4087368"/>
            <a:ext cx="274320" cy="274320"/>
          </a:xfrm>
          <a:prstGeom prst="rect">
            <a:avLst/>
          </a:prstGeom>
        </p:spPr>
      </p:pic>
      <p:sp>
        <p:nvSpPr>
          <p:cNvPr id="11" name="Text 7"/>
          <p:cNvSpPr txBox="1"/>
          <p:nvPr/>
        </p:nvSpPr>
        <p:spPr>
          <a:xfrm>
            <a:off x="1051560" y="4023360"/>
            <a:ext cx="2743200" cy="411480"/>
          </a:xfrm>
          <a:prstGeom prst="rect">
            <a:avLst/>
          </a:prstGeom>
          <a:noFill/>
          <a:ln/>
        </p:spPr>
        <p:txBody>
          <a:bodyPr wrap="square" lIns="0" tIns="0" rIns="0" bIns="0" rtlCol="0" anchor="ctr"/>
          <a:lstStyle/>
          <a:p>
            <a:pPr indent="0" marL="0">
              <a:buNone/>
            </a:pPr>
            <a:r>
              <a:rPr lang="en-US" sz="1700" b="1" dirty="0">
                <a:solidFill>
                  <a:srgbClr val="6F4E37"/>
                </a:solidFill>
                <a:latin typeface="Cambria" pitchFamily="34" charset="0"/>
                <a:ea typeface="Cambria" pitchFamily="34" charset="-122"/>
                <a:cs typeface="Cambria" pitchFamily="34" charset="-120"/>
              </a:rPr>
              <a:t>Business Problem</a:t>
            </a:r>
            <a:endParaRPr lang="en-US" sz="1700" dirty="0"/>
          </a:p>
        </p:txBody>
      </p:sp>
      <p:sp>
        <p:nvSpPr>
          <p:cNvPr id="12" name="Text 8"/>
          <p:cNvSpPr txBox="1"/>
          <p:nvPr/>
        </p:nvSpPr>
        <p:spPr>
          <a:xfrm>
            <a:off x="685800" y="4572000"/>
            <a:ext cx="3108960" cy="164592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Management needs to know which products, times of day, months and store locations drive revenue, so stock, staffing and promotions can focus where they matter most.</a:t>
            </a:r>
            <a:endParaRPr lang="en-US" sz="1500" dirty="0"/>
          </a:p>
        </p:txBody>
      </p:sp>
      <p:sp>
        <p:nvSpPr>
          <p:cNvPr id="13" name="Shape 9"/>
          <p:cNvSpPr/>
          <p:nvPr/>
        </p:nvSpPr>
        <p:spPr>
          <a:xfrm>
            <a:off x="4251960" y="1188720"/>
            <a:ext cx="3749040" cy="5166360"/>
          </a:xfrm>
          <a:prstGeom prst="roundRect">
            <a:avLst>
              <a:gd name="adj" fmla="val 2439"/>
            </a:avLst>
          </a:prstGeom>
          <a:solidFill>
            <a:srgbClr val="F5EDE0"/>
          </a:solidFill>
          <a:ln w="12700">
            <a:solidFill>
              <a:srgbClr val="F5EDE0"/>
            </a:solidFill>
            <a:prstDash val="solid"/>
          </a:ln>
        </p:spPr>
      </p:sp>
      <p:pic>
        <p:nvPicPr>
          <p:cNvPr id="14" name="Image 2" descr="preencoded.png">    </p:cNvPr>
          <p:cNvPicPr>
            <a:picLocks noChangeAspect="1"/>
          </p:cNvPicPr>
          <p:nvPr/>
        </p:nvPicPr>
        <p:blipFill>
          <a:blip r:embed="rId3"/>
          <a:stretch>
            <a:fillRect/>
          </a:stretch>
        </p:blipFill>
        <p:spPr>
          <a:xfrm>
            <a:off x="4480560" y="1389888"/>
            <a:ext cx="274320" cy="274320"/>
          </a:xfrm>
          <a:prstGeom prst="rect">
            <a:avLst/>
          </a:prstGeom>
        </p:spPr>
      </p:pic>
      <p:sp>
        <p:nvSpPr>
          <p:cNvPr id="15" name="Text 10"/>
          <p:cNvSpPr txBox="1"/>
          <p:nvPr/>
        </p:nvSpPr>
        <p:spPr>
          <a:xfrm>
            <a:off x="4846320" y="1325880"/>
            <a:ext cx="2926080" cy="411480"/>
          </a:xfrm>
          <a:prstGeom prst="rect">
            <a:avLst/>
          </a:prstGeom>
          <a:noFill/>
          <a:ln/>
        </p:spPr>
        <p:txBody>
          <a:bodyPr wrap="square" lIns="0" tIns="0" rIns="0" bIns="0" rtlCol="0" anchor="ctr"/>
          <a:lstStyle/>
          <a:p>
            <a:pPr indent="0" marL="0">
              <a:buNone/>
            </a:pPr>
            <a:r>
              <a:rPr lang="en-US" sz="1700" b="1" dirty="0">
                <a:solidFill>
                  <a:srgbClr val="6F4E37"/>
                </a:solidFill>
                <a:latin typeface="Cambria" pitchFamily="34" charset="0"/>
                <a:ea typeface="Cambria" pitchFamily="34" charset="-122"/>
                <a:cs typeface="Cambria" pitchFamily="34" charset="-120"/>
              </a:rPr>
              <a:t>Objectives</a:t>
            </a:r>
            <a:endParaRPr lang="en-US" sz="1700" dirty="0"/>
          </a:p>
        </p:txBody>
      </p:sp>
      <p:sp>
        <p:nvSpPr>
          <p:cNvPr id="16" name="Shape 11"/>
          <p:cNvSpPr/>
          <p:nvPr/>
        </p:nvSpPr>
        <p:spPr>
          <a:xfrm>
            <a:off x="4480560" y="2048256"/>
            <a:ext cx="365760" cy="365760"/>
          </a:xfrm>
          <a:prstGeom prst="ellipse">
            <a:avLst/>
          </a:prstGeom>
          <a:solidFill>
            <a:srgbClr val="6F4E37"/>
          </a:solidFill>
          <a:ln w="12700">
            <a:solidFill>
              <a:srgbClr val="6F4E37"/>
            </a:solidFill>
            <a:prstDash val="solid"/>
          </a:ln>
        </p:spPr>
      </p:sp>
      <p:sp>
        <p:nvSpPr>
          <p:cNvPr id="17" name="Text 12"/>
          <p:cNvSpPr txBox="1"/>
          <p:nvPr/>
        </p:nvSpPr>
        <p:spPr>
          <a:xfrm>
            <a:off x="4480560" y="204825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3"/>
          <p:cNvSpPr txBox="1"/>
          <p:nvPr/>
        </p:nvSpPr>
        <p:spPr>
          <a:xfrm>
            <a:off x="4983480" y="2011680"/>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Identify the products and categories that generate the most revenue</a:t>
            </a:r>
            <a:endParaRPr lang="en-US" sz="1250" dirty="0"/>
          </a:p>
        </p:txBody>
      </p:sp>
      <p:sp>
        <p:nvSpPr>
          <p:cNvPr id="19" name="Shape 14"/>
          <p:cNvSpPr/>
          <p:nvPr/>
        </p:nvSpPr>
        <p:spPr>
          <a:xfrm>
            <a:off x="4480560" y="2752344"/>
            <a:ext cx="365760" cy="365760"/>
          </a:xfrm>
          <a:prstGeom prst="ellipse">
            <a:avLst/>
          </a:prstGeom>
          <a:solidFill>
            <a:srgbClr val="6F4E37"/>
          </a:solidFill>
          <a:ln w="12700">
            <a:solidFill>
              <a:srgbClr val="6F4E37"/>
            </a:solidFill>
            <a:prstDash val="solid"/>
          </a:ln>
        </p:spPr>
      </p:sp>
      <p:sp>
        <p:nvSpPr>
          <p:cNvPr id="20" name="Text 15"/>
          <p:cNvSpPr txBox="1"/>
          <p:nvPr/>
        </p:nvSpPr>
        <p:spPr>
          <a:xfrm>
            <a:off x="4480560" y="275234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6"/>
          <p:cNvSpPr txBox="1"/>
          <p:nvPr/>
        </p:nvSpPr>
        <p:spPr>
          <a:xfrm>
            <a:off x="4983480" y="2715768"/>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Identify the products and categories that sell the most units</a:t>
            </a:r>
            <a:endParaRPr lang="en-US" sz="1250" dirty="0"/>
          </a:p>
        </p:txBody>
      </p:sp>
      <p:sp>
        <p:nvSpPr>
          <p:cNvPr id="22" name="Shape 17"/>
          <p:cNvSpPr/>
          <p:nvPr/>
        </p:nvSpPr>
        <p:spPr>
          <a:xfrm>
            <a:off x="4480560" y="3456432"/>
            <a:ext cx="365760" cy="365760"/>
          </a:xfrm>
          <a:prstGeom prst="ellipse">
            <a:avLst/>
          </a:prstGeom>
          <a:solidFill>
            <a:srgbClr val="6F4E37"/>
          </a:solidFill>
          <a:ln w="12700">
            <a:solidFill>
              <a:srgbClr val="6F4E37"/>
            </a:solidFill>
            <a:prstDash val="solid"/>
          </a:ln>
        </p:spPr>
      </p:sp>
      <p:sp>
        <p:nvSpPr>
          <p:cNvPr id="23" name="Text 18"/>
          <p:cNvSpPr txBox="1"/>
          <p:nvPr/>
        </p:nvSpPr>
        <p:spPr>
          <a:xfrm>
            <a:off x="4480560" y="3456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19"/>
          <p:cNvSpPr txBox="1"/>
          <p:nvPr/>
        </p:nvSpPr>
        <p:spPr>
          <a:xfrm>
            <a:off x="4983480" y="3419856"/>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Find the best-performing times of day for revenue and sales</a:t>
            </a:r>
            <a:endParaRPr lang="en-US" sz="1250" dirty="0"/>
          </a:p>
        </p:txBody>
      </p:sp>
      <p:sp>
        <p:nvSpPr>
          <p:cNvPr id="25" name="Shape 20"/>
          <p:cNvSpPr/>
          <p:nvPr/>
        </p:nvSpPr>
        <p:spPr>
          <a:xfrm>
            <a:off x="4480560" y="4160520"/>
            <a:ext cx="365760" cy="365760"/>
          </a:xfrm>
          <a:prstGeom prst="ellipse">
            <a:avLst/>
          </a:prstGeom>
          <a:solidFill>
            <a:srgbClr val="6F4E37"/>
          </a:solidFill>
          <a:ln w="12700">
            <a:solidFill>
              <a:srgbClr val="6F4E37"/>
            </a:solidFill>
            <a:prstDash val="solid"/>
          </a:ln>
        </p:spPr>
      </p:sp>
      <p:sp>
        <p:nvSpPr>
          <p:cNvPr id="26" name="Text 21"/>
          <p:cNvSpPr txBox="1"/>
          <p:nvPr/>
        </p:nvSpPr>
        <p:spPr>
          <a:xfrm>
            <a:off x="4480560" y="4160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Text 22"/>
          <p:cNvSpPr txBox="1"/>
          <p:nvPr/>
        </p:nvSpPr>
        <p:spPr>
          <a:xfrm>
            <a:off x="4983480" y="4123944"/>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Analyse sales trends across the available period</a:t>
            </a:r>
            <a:endParaRPr lang="en-US" sz="1250" dirty="0"/>
          </a:p>
        </p:txBody>
      </p:sp>
      <p:sp>
        <p:nvSpPr>
          <p:cNvPr id="28" name="Shape 23"/>
          <p:cNvSpPr/>
          <p:nvPr/>
        </p:nvSpPr>
        <p:spPr>
          <a:xfrm>
            <a:off x="4480560" y="4864608"/>
            <a:ext cx="365760" cy="365760"/>
          </a:xfrm>
          <a:prstGeom prst="ellipse">
            <a:avLst/>
          </a:prstGeom>
          <a:solidFill>
            <a:srgbClr val="6F4E37"/>
          </a:solidFill>
          <a:ln w="12700">
            <a:solidFill>
              <a:srgbClr val="6F4E37"/>
            </a:solidFill>
            <a:prstDash val="solid"/>
          </a:ln>
        </p:spPr>
      </p:sp>
      <p:sp>
        <p:nvSpPr>
          <p:cNvPr id="29" name="Text 24"/>
          <p:cNvSpPr txBox="1"/>
          <p:nvPr/>
        </p:nvSpPr>
        <p:spPr>
          <a:xfrm>
            <a:off x="4480560" y="48646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5"/>
          <p:cNvSpPr txBox="1"/>
          <p:nvPr/>
        </p:nvSpPr>
        <p:spPr>
          <a:xfrm>
            <a:off x="4983480" y="4828032"/>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Compare performance across store locations</a:t>
            </a:r>
            <a:endParaRPr lang="en-US" sz="1250" dirty="0"/>
          </a:p>
        </p:txBody>
      </p:sp>
      <p:sp>
        <p:nvSpPr>
          <p:cNvPr id="31" name="Shape 26"/>
          <p:cNvSpPr/>
          <p:nvPr/>
        </p:nvSpPr>
        <p:spPr>
          <a:xfrm>
            <a:off x="4480560" y="5568696"/>
            <a:ext cx="365760" cy="365760"/>
          </a:xfrm>
          <a:prstGeom prst="ellipse">
            <a:avLst/>
          </a:prstGeom>
          <a:solidFill>
            <a:srgbClr val="6F4E37"/>
          </a:solidFill>
          <a:ln w="12700">
            <a:solidFill>
              <a:srgbClr val="6F4E37"/>
            </a:solidFill>
            <a:prstDash val="solid"/>
          </a:ln>
        </p:spPr>
      </p:sp>
      <p:sp>
        <p:nvSpPr>
          <p:cNvPr id="32" name="Text 27"/>
          <p:cNvSpPr txBox="1"/>
          <p:nvPr/>
        </p:nvSpPr>
        <p:spPr>
          <a:xfrm>
            <a:off x="4480560" y="556869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28"/>
          <p:cNvSpPr txBox="1"/>
          <p:nvPr/>
        </p:nvSpPr>
        <p:spPr>
          <a:xfrm>
            <a:off x="4983480" y="5532120"/>
            <a:ext cx="2880360" cy="566928"/>
          </a:xfrm>
          <a:prstGeom prst="rect">
            <a:avLst/>
          </a:prstGeom>
          <a:noFill/>
          <a:ln/>
        </p:spPr>
        <p:txBody>
          <a:bodyPr wrap="square" lIns="0" tIns="0" rIns="0" bIns="0" rtlCol="0" anchor="ctr"/>
          <a:lstStyle/>
          <a:p>
            <a:pPr indent="0" marL="0">
              <a:buNone/>
            </a:pPr>
            <a:r>
              <a:rPr lang="en-US" sz="1250" dirty="0">
                <a:solidFill>
                  <a:srgbClr val="1A1A1A"/>
                </a:solidFill>
                <a:latin typeface="Calibri" pitchFamily="34" charset="0"/>
                <a:ea typeface="Calibri" pitchFamily="34" charset="-122"/>
                <a:cs typeface="Calibri" pitchFamily="34" charset="-120"/>
              </a:rPr>
              <a:t>Turn the findings into evidence-based recommendations</a:t>
            </a:r>
            <a:endParaRPr lang="en-US" sz="1250" dirty="0"/>
          </a:p>
        </p:txBody>
      </p:sp>
      <p:sp>
        <p:nvSpPr>
          <p:cNvPr id="34" name="Shape 29"/>
          <p:cNvSpPr/>
          <p:nvPr/>
        </p:nvSpPr>
        <p:spPr>
          <a:xfrm>
            <a:off x="8229600" y="1188720"/>
            <a:ext cx="3502152" cy="2103120"/>
          </a:xfrm>
          <a:prstGeom prst="roundRect">
            <a:avLst>
              <a:gd name="adj" fmla="val 4348"/>
            </a:avLst>
          </a:prstGeom>
          <a:solidFill>
            <a:srgbClr val="F5EDE0"/>
          </a:solidFill>
          <a:ln w="12700">
            <a:solidFill>
              <a:srgbClr val="F5EDE0"/>
            </a:solidFill>
            <a:prstDash val="solid"/>
          </a:ln>
        </p:spPr>
      </p:sp>
      <p:pic>
        <p:nvPicPr>
          <p:cNvPr id="35" name="Image 3" descr="preencoded.png">    </p:cNvPr>
          <p:cNvPicPr>
            <a:picLocks noChangeAspect="1"/>
          </p:cNvPicPr>
          <p:nvPr/>
        </p:nvPicPr>
        <p:blipFill>
          <a:blip r:embed="rId4"/>
          <a:stretch>
            <a:fillRect/>
          </a:stretch>
        </p:blipFill>
        <p:spPr>
          <a:xfrm>
            <a:off x="8458200" y="1389888"/>
            <a:ext cx="274320" cy="274320"/>
          </a:xfrm>
          <a:prstGeom prst="rect">
            <a:avLst/>
          </a:prstGeom>
        </p:spPr>
      </p:pic>
      <p:sp>
        <p:nvSpPr>
          <p:cNvPr id="36" name="Text 30"/>
          <p:cNvSpPr txBox="1"/>
          <p:nvPr/>
        </p:nvSpPr>
        <p:spPr>
          <a:xfrm>
            <a:off x="8823960" y="1325880"/>
            <a:ext cx="2679192" cy="411480"/>
          </a:xfrm>
          <a:prstGeom prst="rect">
            <a:avLst/>
          </a:prstGeom>
          <a:noFill/>
          <a:ln/>
        </p:spPr>
        <p:txBody>
          <a:bodyPr wrap="square" lIns="0" tIns="0" rIns="0" bIns="0" rtlCol="0" anchor="ctr"/>
          <a:lstStyle/>
          <a:p>
            <a:pPr indent="0" marL="0">
              <a:buNone/>
            </a:pPr>
            <a:r>
              <a:rPr lang="en-US" sz="1700" b="1" dirty="0">
                <a:solidFill>
                  <a:srgbClr val="6F4E37"/>
                </a:solidFill>
                <a:latin typeface="Cambria" pitchFamily="34" charset="0"/>
                <a:ea typeface="Cambria" pitchFamily="34" charset="-122"/>
                <a:cs typeface="Cambria" pitchFamily="34" charset="-120"/>
              </a:rPr>
              <a:t>Dataset</a:t>
            </a:r>
            <a:endParaRPr lang="en-US" sz="1700" dirty="0"/>
          </a:p>
        </p:txBody>
      </p:sp>
      <p:sp>
        <p:nvSpPr>
          <p:cNvPr id="37" name="Text 31"/>
          <p:cNvSpPr txBox="1"/>
          <p:nvPr/>
        </p:nvSpPr>
        <p:spPr>
          <a:xfrm>
            <a:off x="8458200" y="1874520"/>
            <a:ext cx="3063240" cy="132588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Transaction-level sales data supplied as an Excel dataset: 100,000 transactions from 1 Jan to 19 May 2023, 3 stores, 9 product categories, 29 product types and 80 products.</a:t>
            </a:r>
            <a:endParaRPr lang="en-US" sz="1250" dirty="0"/>
          </a:p>
        </p:txBody>
      </p:sp>
      <p:sp>
        <p:nvSpPr>
          <p:cNvPr id="38" name="Shape 32"/>
          <p:cNvSpPr/>
          <p:nvPr/>
        </p:nvSpPr>
        <p:spPr>
          <a:xfrm>
            <a:off x="8229600" y="3520440"/>
            <a:ext cx="3502152" cy="2834640"/>
          </a:xfrm>
          <a:prstGeom prst="roundRect">
            <a:avLst>
              <a:gd name="adj" fmla="val 3226"/>
            </a:avLst>
          </a:prstGeom>
          <a:solidFill>
            <a:srgbClr val="F5EDE0"/>
          </a:solidFill>
          <a:ln w="12700">
            <a:solidFill>
              <a:srgbClr val="F5EDE0"/>
            </a:solidFill>
            <a:prstDash val="solid"/>
          </a:ln>
        </p:spPr>
      </p:sp>
      <p:pic>
        <p:nvPicPr>
          <p:cNvPr id="39" name="Image 4" descr="preencoded.png">    </p:cNvPr>
          <p:cNvPicPr>
            <a:picLocks noChangeAspect="1"/>
          </p:cNvPicPr>
          <p:nvPr/>
        </p:nvPicPr>
        <p:blipFill>
          <a:blip r:embed="rId5"/>
          <a:stretch>
            <a:fillRect/>
          </a:stretch>
        </p:blipFill>
        <p:spPr>
          <a:xfrm>
            <a:off x="8458200" y="3721608"/>
            <a:ext cx="274320" cy="274320"/>
          </a:xfrm>
          <a:prstGeom prst="rect">
            <a:avLst/>
          </a:prstGeom>
        </p:spPr>
      </p:pic>
      <p:sp>
        <p:nvSpPr>
          <p:cNvPr id="40" name="Text 33"/>
          <p:cNvSpPr txBox="1"/>
          <p:nvPr/>
        </p:nvSpPr>
        <p:spPr>
          <a:xfrm>
            <a:off x="8823960" y="3657600"/>
            <a:ext cx="2679192" cy="411480"/>
          </a:xfrm>
          <a:prstGeom prst="rect">
            <a:avLst/>
          </a:prstGeom>
          <a:noFill/>
          <a:ln/>
        </p:spPr>
        <p:txBody>
          <a:bodyPr wrap="square" lIns="0" tIns="0" rIns="0" bIns="0" rtlCol="0" anchor="ctr"/>
          <a:lstStyle/>
          <a:p>
            <a:pPr indent="0" marL="0">
              <a:buNone/>
            </a:pPr>
            <a:r>
              <a:rPr lang="en-US" sz="1700" b="1" dirty="0">
                <a:solidFill>
                  <a:srgbClr val="6F4E37"/>
                </a:solidFill>
                <a:latin typeface="Cambria" pitchFamily="34" charset="0"/>
                <a:ea typeface="Cambria" pitchFamily="34" charset="-122"/>
                <a:cs typeface="Cambria" pitchFamily="34" charset="-120"/>
              </a:rPr>
              <a:t>Tools Used</a:t>
            </a:r>
            <a:endParaRPr lang="en-US" sz="1700" dirty="0"/>
          </a:p>
        </p:txBody>
      </p:sp>
      <p:pic>
        <p:nvPicPr>
          <p:cNvPr id="41" name="Image 5" descr="preencoded.png">    </p:cNvPr>
          <p:cNvPicPr>
            <a:picLocks noChangeAspect="1"/>
          </p:cNvPicPr>
          <p:nvPr/>
        </p:nvPicPr>
        <p:blipFill>
          <a:blip r:embed="rId6"/>
          <a:stretch>
            <a:fillRect/>
          </a:stretch>
        </p:blipFill>
        <p:spPr>
          <a:xfrm>
            <a:off x="8476488" y="4206240"/>
            <a:ext cx="274320" cy="274320"/>
          </a:xfrm>
          <a:prstGeom prst="rect">
            <a:avLst/>
          </a:prstGeom>
        </p:spPr>
      </p:pic>
      <p:sp>
        <p:nvSpPr>
          <p:cNvPr id="42" name="Text 34"/>
          <p:cNvSpPr txBox="1"/>
          <p:nvPr/>
        </p:nvSpPr>
        <p:spPr>
          <a:xfrm>
            <a:off x="8915400" y="4160520"/>
            <a:ext cx="2743200" cy="365760"/>
          </a:xfrm>
          <a:prstGeom prst="rect">
            <a:avLst/>
          </a:prstGeom>
          <a:noFill/>
          <a:ln/>
        </p:spPr>
        <p:txBody>
          <a:bodyPr wrap="square" lIns="0" tIns="0" rIns="0" bIns="0" rtlCol="0" anchor="ctr"/>
          <a:lstStyle/>
          <a:p>
            <a:pPr indent="0" marL="0">
              <a:buNone/>
            </a:pPr>
            <a:r>
              <a:rPr lang="en-US" sz="1150" b="1" dirty="0">
                <a:solidFill>
                  <a:srgbClr val="2B1A12"/>
                </a:solidFill>
                <a:latin typeface="Calibri" pitchFamily="34" charset="0"/>
                <a:ea typeface="Calibri" pitchFamily="34" charset="-122"/>
                <a:cs typeface="Calibri" pitchFamily="34" charset="-120"/>
              </a:rPr>
              <a:t>Excel</a:t>
            </a:r>
            <a:pPr indent="0" marL="0">
              <a:buNone/>
            </a:pPr>
            <a:r>
              <a:rPr lang="en-US" sz="1150" dirty="0">
                <a:solidFill>
                  <a:srgbClr val="6B5D52"/>
                </a:solidFill>
                <a:latin typeface="Calibri" pitchFamily="34" charset="0"/>
                <a:ea typeface="Calibri" pitchFamily="34" charset="-122"/>
                <a:cs typeface="Calibri" pitchFamily="34" charset="-120"/>
              </a:rPr>
              <a:t>  Pivot tables, charts, dashboard</a:t>
            </a:r>
            <a:endParaRPr lang="en-US" sz="1150" dirty="0"/>
          </a:p>
        </p:txBody>
      </p:sp>
      <p:pic>
        <p:nvPicPr>
          <p:cNvPr id="43" name="Image 6" descr="preencoded.png">    </p:cNvPr>
          <p:cNvPicPr>
            <a:picLocks noChangeAspect="1"/>
          </p:cNvPicPr>
          <p:nvPr/>
        </p:nvPicPr>
        <p:blipFill>
          <a:blip r:embed="rId7"/>
          <a:stretch>
            <a:fillRect/>
          </a:stretch>
        </p:blipFill>
        <p:spPr>
          <a:xfrm>
            <a:off x="8476488" y="4636008"/>
            <a:ext cx="274320" cy="274320"/>
          </a:xfrm>
          <a:prstGeom prst="rect">
            <a:avLst/>
          </a:prstGeom>
        </p:spPr>
      </p:pic>
      <p:sp>
        <p:nvSpPr>
          <p:cNvPr id="44" name="Text 35"/>
          <p:cNvSpPr txBox="1"/>
          <p:nvPr/>
        </p:nvSpPr>
        <p:spPr>
          <a:xfrm>
            <a:off x="8915400" y="4590288"/>
            <a:ext cx="2743200" cy="365760"/>
          </a:xfrm>
          <a:prstGeom prst="rect">
            <a:avLst/>
          </a:prstGeom>
          <a:noFill/>
          <a:ln/>
        </p:spPr>
        <p:txBody>
          <a:bodyPr wrap="square" lIns="0" tIns="0" rIns="0" bIns="0" rtlCol="0" anchor="ctr"/>
          <a:lstStyle/>
          <a:p>
            <a:pPr indent="0" marL="0">
              <a:buNone/>
            </a:pPr>
            <a:r>
              <a:rPr lang="en-US" sz="1150" b="1" dirty="0">
                <a:solidFill>
                  <a:srgbClr val="2B1A12"/>
                </a:solidFill>
                <a:latin typeface="Calibri" pitchFamily="34" charset="0"/>
                <a:ea typeface="Calibri" pitchFamily="34" charset="-122"/>
                <a:cs typeface="Calibri" pitchFamily="34" charset="-120"/>
              </a:rPr>
              <a:t>Databricks</a:t>
            </a:r>
            <a:pPr indent="0" marL="0">
              <a:buNone/>
            </a:pPr>
            <a:r>
              <a:rPr lang="en-US" sz="1150" dirty="0">
                <a:solidFill>
                  <a:srgbClr val="6B5D52"/>
                </a:solidFill>
                <a:latin typeface="Calibri" pitchFamily="34" charset="0"/>
                <a:ea typeface="Calibri" pitchFamily="34" charset="-122"/>
                <a:cs typeface="Calibri" pitchFamily="34" charset="-120"/>
              </a:rPr>
              <a:t>  ETL and schema</a:t>
            </a:r>
            <a:endParaRPr lang="en-US" sz="1150" dirty="0"/>
          </a:p>
        </p:txBody>
      </p:sp>
      <p:pic>
        <p:nvPicPr>
          <p:cNvPr id="45" name="Image 7" descr="preencoded.png">    </p:cNvPr>
          <p:cNvPicPr>
            <a:picLocks noChangeAspect="1"/>
          </p:cNvPicPr>
          <p:nvPr/>
        </p:nvPicPr>
        <p:blipFill>
          <a:blip r:embed="rId8"/>
          <a:stretch>
            <a:fillRect/>
          </a:stretch>
        </p:blipFill>
        <p:spPr>
          <a:xfrm>
            <a:off x="8476488" y="5065776"/>
            <a:ext cx="274320" cy="274320"/>
          </a:xfrm>
          <a:prstGeom prst="rect">
            <a:avLst/>
          </a:prstGeom>
        </p:spPr>
      </p:pic>
      <p:sp>
        <p:nvSpPr>
          <p:cNvPr id="46" name="Text 36"/>
          <p:cNvSpPr txBox="1"/>
          <p:nvPr/>
        </p:nvSpPr>
        <p:spPr>
          <a:xfrm>
            <a:off x="8915400" y="5020056"/>
            <a:ext cx="2743200" cy="365760"/>
          </a:xfrm>
          <a:prstGeom prst="rect">
            <a:avLst/>
          </a:prstGeom>
          <a:noFill/>
          <a:ln/>
        </p:spPr>
        <p:txBody>
          <a:bodyPr wrap="square" lIns="0" tIns="0" rIns="0" bIns="0" rtlCol="0" anchor="ctr"/>
          <a:lstStyle/>
          <a:p>
            <a:pPr indent="0" marL="0">
              <a:buNone/>
            </a:pPr>
            <a:r>
              <a:rPr lang="en-US" sz="1150" b="1" dirty="0">
                <a:solidFill>
                  <a:srgbClr val="2B1A12"/>
                </a:solidFill>
                <a:latin typeface="Calibri" pitchFamily="34" charset="0"/>
                <a:ea typeface="Calibri" pitchFamily="34" charset="-122"/>
                <a:cs typeface="Calibri" pitchFamily="34" charset="-120"/>
              </a:rPr>
              <a:t>SQL</a:t>
            </a:r>
            <a:pPr indent="0" marL="0">
              <a:buNone/>
            </a:pPr>
            <a:r>
              <a:rPr lang="en-US" sz="1150" dirty="0">
                <a:solidFill>
                  <a:srgbClr val="6B5D52"/>
                </a:solidFill>
                <a:latin typeface="Calibri" pitchFamily="34" charset="0"/>
                <a:ea typeface="Calibri" pitchFamily="34" charset="-122"/>
                <a:cs typeface="Calibri" pitchFamily="34" charset="-120"/>
              </a:rPr>
              <a:t>  Data cleaning and analysis</a:t>
            </a:r>
            <a:endParaRPr lang="en-US" sz="1150" dirty="0"/>
          </a:p>
        </p:txBody>
      </p:sp>
      <p:pic>
        <p:nvPicPr>
          <p:cNvPr id="47" name="Image 8" descr="preencoded.png">    </p:cNvPr>
          <p:cNvPicPr>
            <a:picLocks noChangeAspect="1"/>
          </p:cNvPicPr>
          <p:nvPr/>
        </p:nvPicPr>
        <p:blipFill>
          <a:blip r:embed="rId9"/>
          <a:stretch>
            <a:fillRect/>
          </a:stretch>
        </p:blipFill>
        <p:spPr>
          <a:xfrm>
            <a:off x="8476488" y="5495544"/>
            <a:ext cx="274320" cy="274320"/>
          </a:xfrm>
          <a:prstGeom prst="rect">
            <a:avLst/>
          </a:prstGeom>
        </p:spPr>
      </p:pic>
      <p:sp>
        <p:nvSpPr>
          <p:cNvPr id="48" name="Text 37"/>
          <p:cNvSpPr txBox="1"/>
          <p:nvPr/>
        </p:nvSpPr>
        <p:spPr>
          <a:xfrm>
            <a:off x="8915400" y="5449824"/>
            <a:ext cx="2743200" cy="365760"/>
          </a:xfrm>
          <a:prstGeom prst="rect">
            <a:avLst/>
          </a:prstGeom>
          <a:noFill/>
          <a:ln/>
        </p:spPr>
        <p:txBody>
          <a:bodyPr wrap="square" lIns="0" tIns="0" rIns="0" bIns="0" rtlCol="0" anchor="ctr"/>
          <a:lstStyle/>
          <a:p>
            <a:pPr indent="0" marL="0">
              <a:buNone/>
            </a:pPr>
            <a:r>
              <a:rPr lang="en-US" sz="1150" b="1" dirty="0">
                <a:solidFill>
                  <a:srgbClr val="2B1A12"/>
                </a:solidFill>
                <a:latin typeface="Calibri" pitchFamily="34" charset="0"/>
                <a:ea typeface="Calibri" pitchFamily="34" charset="-122"/>
                <a:cs typeface="Calibri" pitchFamily="34" charset="-120"/>
              </a:rPr>
              <a:t>Claude</a:t>
            </a:r>
            <a:pPr indent="0" marL="0">
              <a:buNone/>
            </a:pPr>
            <a:r>
              <a:rPr lang="en-US" sz="1150" dirty="0">
                <a:solidFill>
                  <a:srgbClr val="6B5D52"/>
                </a:solidFill>
                <a:latin typeface="Calibri" pitchFamily="34" charset="0"/>
                <a:ea typeface="Calibri" pitchFamily="34" charset="-122"/>
                <a:cs typeface="Calibri" pitchFamily="34" charset="-120"/>
              </a:rPr>
              <a:t>  AI-assisted analysis</a:t>
            </a:r>
            <a:endParaRPr lang="en-US" sz="1150" dirty="0"/>
          </a:p>
        </p:txBody>
      </p:sp>
      <p:pic>
        <p:nvPicPr>
          <p:cNvPr id="49" name="Image 9" descr="preencoded.png">    </p:cNvPr>
          <p:cNvPicPr>
            <a:picLocks noChangeAspect="1"/>
          </p:cNvPicPr>
          <p:nvPr/>
        </p:nvPicPr>
        <p:blipFill>
          <a:blip r:embed="rId10"/>
          <a:stretch>
            <a:fillRect/>
          </a:stretch>
        </p:blipFill>
        <p:spPr>
          <a:xfrm>
            <a:off x="8476488" y="5925312"/>
            <a:ext cx="274320" cy="274320"/>
          </a:xfrm>
          <a:prstGeom prst="rect">
            <a:avLst/>
          </a:prstGeom>
        </p:spPr>
      </p:pic>
      <p:sp>
        <p:nvSpPr>
          <p:cNvPr id="50" name="Text 38"/>
          <p:cNvSpPr txBox="1"/>
          <p:nvPr/>
        </p:nvSpPr>
        <p:spPr>
          <a:xfrm>
            <a:off x="8915400" y="5879592"/>
            <a:ext cx="2743200" cy="365760"/>
          </a:xfrm>
          <a:prstGeom prst="rect">
            <a:avLst/>
          </a:prstGeom>
          <a:noFill/>
          <a:ln/>
        </p:spPr>
        <p:txBody>
          <a:bodyPr wrap="square" lIns="0" tIns="0" rIns="0" bIns="0" rtlCol="0" anchor="ctr"/>
          <a:lstStyle/>
          <a:p>
            <a:pPr indent="0" marL="0">
              <a:buNone/>
            </a:pPr>
            <a:r>
              <a:rPr lang="en-US" sz="1150" b="1" dirty="0">
                <a:solidFill>
                  <a:srgbClr val="2B1A12"/>
                </a:solidFill>
                <a:latin typeface="Calibri" pitchFamily="34" charset="0"/>
                <a:ea typeface="Calibri" pitchFamily="34" charset="-122"/>
                <a:cs typeface="Calibri" pitchFamily="34" charset="-120"/>
              </a:rPr>
              <a:t>GitHub</a:t>
            </a:r>
            <a:pPr indent="0" marL="0">
              <a:buNone/>
            </a:pPr>
            <a:r>
              <a:rPr lang="en-US" sz="1150" dirty="0">
                <a:solidFill>
                  <a:srgbClr val="6B5D52"/>
                </a:solidFill>
                <a:latin typeface="Calibri" pitchFamily="34" charset="0"/>
                <a:ea typeface="Calibri" pitchFamily="34" charset="-122"/>
                <a:cs typeface="Calibri" pitchFamily="34" charset="-120"/>
              </a:rPr>
              <a:t>  Project repository</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rgbClr val="2B1A12"/>
                </a:solidFill>
                <a:latin typeface="Cambria" pitchFamily="34" charset="0"/>
                <a:ea typeface="Cambria" pitchFamily="34" charset="-122"/>
                <a:cs typeface="Cambria" pitchFamily="34" charset="-120"/>
              </a:rPr>
              <a:t>Methodology</a:t>
            </a:r>
            <a:endParaRPr lang="en-US" sz="30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3</a:t>
            </a:r>
            <a:endParaRPr lang="en-US" sz="900" dirty="0"/>
          </a:p>
        </p:txBody>
      </p:sp>
      <p:sp>
        <p:nvSpPr>
          <p:cNvPr id="5" name="Text 3"/>
          <p:cNvSpPr txBox="1"/>
          <p:nvPr/>
        </p:nvSpPr>
        <p:spPr>
          <a:xfrm>
            <a:off x="457200" y="914400"/>
            <a:ext cx="8229600" cy="320040"/>
          </a:xfrm>
          <a:prstGeom prst="rect">
            <a:avLst/>
          </a:prstGeom>
          <a:noFill/>
          <a:ln/>
        </p:spPr>
        <p:txBody>
          <a:bodyPr wrap="square" lIns="0" tIns="0" rIns="0" bIns="0" rtlCol="0" anchor="ctr"/>
          <a:lstStyle/>
          <a:p>
            <a:pPr indent="0" marL="0">
              <a:buNone/>
            </a:pPr>
            <a:r>
              <a:rPr lang="en-US" sz="1500" dirty="0">
                <a:solidFill>
                  <a:srgbClr val="6B5D52"/>
                </a:solidFill>
                <a:latin typeface="Calibri" pitchFamily="34" charset="0"/>
                <a:ea typeface="Calibri" pitchFamily="34" charset="-122"/>
                <a:cs typeface="Calibri" pitchFamily="34" charset="-120"/>
              </a:rPr>
              <a:t>From raw Excel data to a published portfolio project</a:t>
            </a:r>
            <a:endParaRPr lang="en-US" sz="1500" dirty="0"/>
          </a:p>
        </p:txBody>
      </p:sp>
      <p:sp>
        <p:nvSpPr>
          <p:cNvPr id="6" name="Shape 4"/>
          <p:cNvSpPr/>
          <p:nvPr/>
        </p:nvSpPr>
        <p:spPr>
          <a:xfrm>
            <a:off x="457200" y="1554480"/>
            <a:ext cx="1920240" cy="1828800"/>
          </a:xfrm>
          <a:prstGeom prst="roundRect">
            <a:avLst>
              <a:gd name="adj" fmla="val 5000"/>
            </a:avLst>
          </a:prstGeom>
          <a:solidFill>
            <a:srgbClr val="F5EDE0"/>
          </a:solidFill>
          <a:ln w="12700">
            <a:solidFill>
              <a:srgbClr val="F5EDE0"/>
            </a:solidFill>
            <a:prstDash val="solid"/>
          </a:ln>
        </p:spPr>
      </p:sp>
      <p:sp>
        <p:nvSpPr>
          <p:cNvPr id="7" name="Shape 5"/>
          <p:cNvSpPr/>
          <p:nvPr/>
        </p:nvSpPr>
        <p:spPr>
          <a:xfrm>
            <a:off x="594360" y="1691640"/>
            <a:ext cx="384048" cy="384048"/>
          </a:xfrm>
          <a:prstGeom prst="ellipse">
            <a:avLst/>
          </a:prstGeom>
          <a:solidFill>
            <a:srgbClr val="6F4E37"/>
          </a:solidFill>
          <a:ln w="12700">
            <a:solidFill>
              <a:srgbClr val="6F4E37"/>
            </a:solidFill>
            <a:prstDash val="solid"/>
          </a:ln>
        </p:spPr>
      </p:sp>
      <p:sp>
        <p:nvSpPr>
          <p:cNvPr id="8" name="Text 6"/>
          <p:cNvSpPr txBox="1"/>
          <p:nvPr/>
        </p:nvSpPr>
        <p:spPr>
          <a:xfrm>
            <a:off x="59436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pic>
        <p:nvPicPr>
          <p:cNvPr id="9" name="Image 0" descr="preencoded.png">    </p:cNvPr>
          <p:cNvPicPr>
            <a:picLocks noChangeAspect="1"/>
          </p:cNvPicPr>
          <p:nvPr/>
        </p:nvPicPr>
        <p:blipFill>
          <a:blip r:embed="rId1"/>
          <a:stretch>
            <a:fillRect/>
          </a:stretch>
        </p:blipFill>
        <p:spPr>
          <a:xfrm>
            <a:off x="1143000" y="1874520"/>
            <a:ext cx="548640" cy="548640"/>
          </a:xfrm>
          <a:prstGeom prst="rect">
            <a:avLst/>
          </a:prstGeom>
        </p:spPr>
      </p:pic>
      <p:sp>
        <p:nvSpPr>
          <p:cNvPr id="10" name="Text 7"/>
          <p:cNvSpPr txBox="1"/>
          <p:nvPr/>
        </p:nvSpPr>
        <p:spPr>
          <a:xfrm>
            <a:off x="548640" y="251460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Excel Dataset</a:t>
            </a:r>
            <a:endParaRPr lang="en-US" sz="1350" dirty="0"/>
          </a:p>
        </p:txBody>
      </p:sp>
      <p:sp>
        <p:nvSpPr>
          <p:cNvPr id="11" name="Text 8"/>
          <p:cNvSpPr txBox="1"/>
          <p:nvPr/>
        </p:nvSpPr>
        <p:spPr>
          <a:xfrm>
            <a:off x="548640" y="288036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Raw transaction data</a:t>
            </a:r>
            <a:endParaRPr lang="en-US" sz="1150" dirty="0"/>
          </a:p>
        </p:txBody>
      </p:sp>
      <p:pic>
        <p:nvPicPr>
          <p:cNvPr id="12" name="Image 1" descr="preencoded.png">    </p:cNvPr>
          <p:cNvPicPr>
            <a:picLocks noChangeAspect="1"/>
          </p:cNvPicPr>
          <p:nvPr/>
        </p:nvPicPr>
        <p:blipFill>
          <a:blip r:embed="rId2"/>
          <a:stretch>
            <a:fillRect/>
          </a:stretch>
        </p:blipFill>
        <p:spPr>
          <a:xfrm>
            <a:off x="2450592" y="2340864"/>
            <a:ext cx="256032" cy="256032"/>
          </a:xfrm>
          <a:prstGeom prst="rect">
            <a:avLst/>
          </a:prstGeom>
        </p:spPr>
      </p:pic>
      <p:sp>
        <p:nvSpPr>
          <p:cNvPr id="13" name="Shape 9"/>
          <p:cNvSpPr/>
          <p:nvPr/>
        </p:nvSpPr>
        <p:spPr>
          <a:xfrm>
            <a:off x="2788920" y="1554480"/>
            <a:ext cx="1920240" cy="1828800"/>
          </a:xfrm>
          <a:prstGeom prst="roundRect">
            <a:avLst>
              <a:gd name="adj" fmla="val 5000"/>
            </a:avLst>
          </a:prstGeom>
          <a:solidFill>
            <a:srgbClr val="F5EDE0"/>
          </a:solidFill>
          <a:ln w="12700">
            <a:solidFill>
              <a:srgbClr val="F5EDE0"/>
            </a:solidFill>
            <a:prstDash val="solid"/>
          </a:ln>
        </p:spPr>
      </p:sp>
      <p:sp>
        <p:nvSpPr>
          <p:cNvPr id="14" name="Shape 10"/>
          <p:cNvSpPr/>
          <p:nvPr/>
        </p:nvSpPr>
        <p:spPr>
          <a:xfrm>
            <a:off x="2926080" y="1691640"/>
            <a:ext cx="384048" cy="384048"/>
          </a:xfrm>
          <a:prstGeom prst="ellipse">
            <a:avLst/>
          </a:prstGeom>
          <a:solidFill>
            <a:srgbClr val="6F4E37"/>
          </a:solidFill>
          <a:ln w="12700">
            <a:solidFill>
              <a:srgbClr val="6F4E37"/>
            </a:solidFill>
            <a:prstDash val="solid"/>
          </a:ln>
        </p:spPr>
      </p:sp>
      <p:sp>
        <p:nvSpPr>
          <p:cNvPr id="15" name="Text 11"/>
          <p:cNvSpPr txBox="1"/>
          <p:nvPr/>
        </p:nvSpPr>
        <p:spPr>
          <a:xfrm>
            <a:off x="292608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pic>
        <p:nvPicPr>
          <p:cNvPr id="16" name="Image 2" descr="preencoded.png">    </p:cNvPr>
          <p:cNvPicPr>
            <a:picLocks noChangeAspect="1"/>
          </p:cNvPicPr>
          <p:nvPr/>
        </p:nvPicPr>
        <p:blipFill>
          <a:blip r:embed="rId3"/>
          <a:stretch>
            <a:fillRect/>
          </a:stretch>
        </p:blipFill>
        <p:spPr>
          <a:xfrm>
            <a:off x="3474720" y="1874520"/>
            <a:ext cx="548640" cy="548640"/>
          </a:xfrm>
          <a:prstGeom prst="rect">
            <a:avLst/>
          </a:prstGeom>
        </p:spPr>
      </p:pic>
      <p:sp>
        <p:nvSpPr>
          <p:cNvPr id="17" name="Text 12"/>
          <p:cNvSpPr txBox="1"/>
          <p:nvPr/>
        </p:nvSpPr>
        <p:spPr>
          <a:xfrm>
            <a:off x="2880360" y="251460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Databricks ETL</a:t>
            </a:r>
            <a:endParaRPr lang="en-US" sz="1350" dirty="0"/>
          </a:p>
        </p:txBody>
      </p:sp>
      <p:sp>
        <p:nvSpPr>
          <p:cNvPr id="18" name="Text 13"/>
          <p:cNvSpPr txBox="1"/>
          <p:nvPr/>
        </p:nvSpPr>
        <p:spPr>
          <a:xfrm>
            <a:off x="2880360" y="288036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Load and transform</a:t>
            </a:r>
            <a:endParaRPr lang="en-US" sz="1150" dirty="0"/>
          </a:p>
        </p:txBody>
      </p:sp>
      <p:pic>
        <p:nvPicPr>
          <p:cNvPr id="19" name="Image 3" descr="preencoded.png">    </p:cNvPr>
          <p:cNvPicPr>
            <a:picLocks noChangeAspect="1"/>
          </p:cNvPicPr>
          <p:nvPr/>
        </p:nvPicPr>
        <p:blipFill>
          <a:blip r:embed="rId4"/>
          <a:stretch>
            <a:fillRect/>
          </a:stretch>
        </p:blipFill>
        <p:spPr>
          <a:xfrm>
            <a:off x="4782312" y="2340864"/>
            <a:ext cx="256032" cy="256032"/>
          </a:xfrm>
          <a:prstGeom prst="rect">
            <a:avLst/>
          </a:prstGeom>
        </p:spPr>
      </p:pic>
      <p:sp>
        <p:nvSpPr>
          <p:cNvPr id="20" name="Shape 14"/>
          <p:cNvSpPr/>
          <p:nvPr/>
        </p:nvSpPr>
        <p:spPr>
          <a:xfrm>
            <a:off x="5120640" y="1554480"/>
            <a:ext cx="1920240" cy="1828800"/>
          </a:xfrm>
          <a:prstGeom prst="roundRect">
            <a:avLst>
              <a:gd name="adj" fmla="val 5000"/>
            </a:avLst>
          </a:prstGeom>
          <a:solidFill>
            <a:srgbClr val="F5EDE0"/>
          </a:solidFill>
          <a:ln w="12700">
            <a:solidFill>
              <a:srgbClr val="F5EDE0"/>
            </a:solidFill>
            <a:prstDash val="solid"/>
          </a:ln>
        </p:spPr>
      </p:sp>
      <p:sp>
        <p:nvSpPr>
          <p:cNvPr id="21" name="Shape 15"/>
          <p:cNvSpPr/>
          <p:nvPr/>
        </p:nvSpPr>
        <p:spPr>
          <a:xfrm>
            <a:off x="5257800" y="1691640"/>
            <a:ext cx="384048" cy="384048"/>
          </a:xfrm>
          <a:prstGeom prst="ellipse">
            <a:avLst/>
          </a:prstGeom>
          <a:solidFill>
            <a:srgbClr val="6F4E37"/>
          </a:solidFill>
          <a:ln w="12700">
            <a:solidFill>
              <a:srgbClr val="6F4E37"/>
            </a:solidFill>
            <a:prstDash val="solid"/>
          </a:ln>
        </p:spPr>
      </p:sp>
      <p:sp>
        <p:nvSpPr>
          <p:cNvPr id="22" name="Text 16"/>
          <p:cNvSpPr txBox="1"/>
          <p:nvPr/>
        </p:nvSpPr>
        <p:spPr>
          <a:xfrm>
            <a:off x="525780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pic>
        <p:nvPicPr>
          <p:cNvPr id="23" name="Image 4" descr="preencoded.png">    </p:cNvPr>
          <p:cNvPicPr>
            <a:picLocks noChangeAspect="1"/>
          </p:cNvPicPr>
          <p:nvPr/>
        </p:nvPicPr>
        <p:blipFill>
          <a:blip r:embed="rId5"/>
          <a:stretch>
            <a:fillRect/>
          </a:stretch>
        </p:blipFill>
        <p:spPr>
          <a:xfrm>
            <a:off x="5806440" y="1874520"/>
            <a:ext cx="548640" cy="548640"/>
          </a:xfrm>
          <a:prstGeom prst="rect">
            <a:avLst/>
          </a:prstGeom>
        </p:spPr>
      </p:pic>
      <p:sp>
        <p:nvSpPr>
          <p:cNvPr id="24" name="Text 17"/>
          <p:cNvSpPr txBox="1"/>
          <p:nvPr/>
        </p:nvSpPr>
        <p:spPr>
          <a:xfrm>
            <a:off x="5212080" y="251460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Create Schema</a:t>
            </a:r>
            <a:endParaRPr lang="en-US" sz="1350" dirty="0"/>
          </a:p>
        </p:txBody>
      </p:sp>
      <p:sp>
        <p:nvSpPr>
          <p:cNvPr id="25" name="Text 18"/>
          <p:cNvSpPr txBox="1"/>
          <p:nvPr/>
        </p:nvSpPr>
        <p:spPr>
          <a:xfrm>
            <a:off x="5212080" y="288036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Structure the tables</a:t>
            </a:r>
            <a:endParaRPr lang="en-US" sz="1150" dirty="0"/>
          </a:p>
        </p:txBody>
      </p:sp>
      <p:pic>
        <p:nvPicPr>
          <p:cNvPr id="26" name="Image 5" descr="preencoded.png">    </p:cNvPr>
          <p:cNvPicPr>
            <a:picLocks noChangeAspect="1"/>
          </p:cNvPicPr>
          <p:nvPr/>
        </p:nvPicPr>
        <p:blipFill>
          <a:blip r:embed="rId6"/>
          <a:stretch>
            <a:fillRect/>
          </a:stretch>
        </p:blipFill>
        <p:spPr>
          <a:xfrm>
            <a:off x="7114032" y="2340864"/>
            <a:ext cx="256032" cy="256032"/>
          </a:xfrm>
          <a:prstGeom prst="rect">
            <a:avLst/>
          </a:prstGeom>
        </p:spPr>
      </p:pic>
      <p:sp>
        <p:nvSpPr>
          <p:cNvPr id="27" name="Shape 19"/>
          <p:cNvSpPr/>
          <p:nvPr/>
        </p:nvSpPr>
        <p:spPr>
          <a:xfrm>
            <a:off x="7452360" y="1554480"/>
            <a:ext cx="1920240" cy="1828800"/>
          </a:xfrm>
          <a:prstGeom prst="roundRect">
            <a:avLst>
              <a:gd name="adj" fmla="val 5000"/>
            </a:avLst>
          </a:prstGeom>
          <a:solidFill>
            <a:srgbClr val="F5EDE0"/>
          </a:solidFill>
          <a:ln w="12700">
            <a:solidFill>
              <a:srgbClr val="F5EDE0"/>
            </a:solidFill>
            <a:prstDash val="solid"/>
          </a:ln>
        </p:spPr>
      </p:sp>
      <p:sp>
        <p:nvSpPr>
          <p:cNvPr id="28" name="Shape 20"/>
          <p:cNvSpPr/>
          <p:nvPr/>
        </p:nvSpPr>
        <p:spPr>
          <a:xfrm>
            <a:off x="7589520" y="1691640"/>
            <a:ext cx="384048" cy="384048"/>
          </a:xfrm>
          <a:prstGeom prst="ellipse">
            <a:avLst/>
          </a:prstGeom>
          <a:solidFill>
            <a:srgbClr val="6F4E37"/>
          </a:solidFill>
          <a:ln w="12700">
            <a:solidFill>
              <a:srgbClr val="6F4E37"/>
            </a:solidFill>
            <a:prstDash val="solid"/>
          </a:ln>
        </p:spPr>
      </p:sp>
      <p:sp>
        <p:nvSpPr>
          <p:cNvPr id="29" name="Text 21"/>
          <p:cNvSpPr txBox="1"/>
          <p:nvPr/>
        </p:nvSpPr>
        <p:spPr>
          <a:xfrm>
            <a:off x="758952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pic>
        <p:nvPicPr>
          <p:cNvPr id="30" name="Image 6" descr="preencoded.png">    </p:cNvPr>
          <p:cNvPicPr>
            <a:picLocks noChangeAspect="1"/>
          </p:cNvPicPr>
          <p:nvPr/>
        </p:nvPicPr>
        <p:blipFill>
          <a:blip r:embed="rId7"/>
          <a:stretch>
            <a:fillRect/>
          </a:stretch>
        </p:blipFill>
        <p:spPr>
          <a:xfrm>
            <a:off x="8138160" y="1874520"/>
            <a:ext cx="548640" cy="548640"/>
          </a:xfrm>
          <a:prstGeom prst="rect">
            <a:avLst/>
          </a:prstGeom>
        </p:spPr>
      </p:pic>
      <p:sp>
        <p:nvSpPr>
          <p:cNvPr id="31" name="Text 22"/>
          <p:cNvSpPr txBox="1"/>
          <p:nvPr/>
        </p:nvSpPr>
        <p:spPr>
          <a:xfrm>
            <a:off x="7543800" y="251460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SQL Data Cleaning</a:t>
            </a:r>
            <a:endParaRPr lang="en-US" sz="1350" dirty="0"/>
          </a:p>
        </p:txBody>
      </p:sp>
      <p:sp>
        <p:nvSpPr>
          <p:cNvPr id="32" name="Text 23"/>
          <p:cNvSpPr txBox="1"/>
          <p:nvPr/>
        </p:nvSpPr>
        <p:spPr>
          <a:xfrm>
            <a:off x="7543800" y="288036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Clean and standardise</a:t>
            </a:r>
            <a:endParaRPr lang="en-US" sz="1150" dirty="0"/>
          </a:p>
        </p:txBody>
      </p:sp>
      <p:pic>
        <p:nvPicPr>
          <p:cNvPr id="33" name="Image 7" descr="preencoded.png">    </p:cNvPr>
          <p:cNvPicPr>
            <a:picLocks noChangeAspect="1"/>
          </p:cNvPicPr>
          <p:nvPr/>
        </p:nvPicPr>
        <p:blipFill>
          <a:blip r:embed="rId8"/>
          <a:stretch>
            <a:fillRect/>
          </a:stretch>
        </p:blipFill>
        <p:spPr>
          <a:xfrm>
            <a:off x="9445752" y="2340864"/>
            <a:ext cx="256032" cy="256032"/>
          </a:xfrm>
          <a:prstGeom prst="rect">
            <a:avLst/>
          </a:prstGeom>
        </p:spPr>
      </p:pic>
      <p:sp>
        <p:nvSpPr>
          <p:cNvPr id="34" name="Shape 24"/>
          <p:cNvSpPr/>
          <p:nvPr/>
        </p:nvSpPr>
        <p:spPr>
          <a:xfrm>
            <a:off x="9784080" y="1554480"/>
            <a:ext cx="1920240" cy="1828800"/>
          </a:xfrm>
          <a:prstGeom prst="roundRect">
            <a:avLst>
              <a:gd name="adj" fmla="val 5000"/>
            </a:avLst>
          </a:prstGeom>
          <a:solidFill>
            <a:srgbClr val="F5EDE0"/>
          </a:solidFill>
          <a:ln w="12700">
            <a:solidFill>
              <a:srgbClr val="F5EDE0"/>
            </a:solidFill>
            <a:prstDash val="solid"/>
          </a:ln>
        </p:spPr>
      </p:sp>
      <p:sp>
        <p:nvSpPr>
          <p:cNvPr id="35" name="Shape 25"/>
          <p:cNvSpPr/>
          <p:nvPr/>
        </p:nvSpPr>
        <p:spPr>
          <a:xfrm>
            <a:off x="9921240" y="1691640"/>
            <a:ext cx="384048" cy="384048"/>
          </a:xfrm>
          <a:prstGeom prst="ellipse">
            <a:avLst/>
          </a:prstGeom>
          <a:solidFill>
            <a:srgbClr val="6F4E37"/>
          </a:solidFill>
          <a:ln w="12700">
            <a:solidFill>
              <a:srgbClr val="6F4E37"/>
            </a:solidFill>
            <a:prstDash val="solid"/>
          </a:ln>
        </p:spPr>
      </p:sp>
      <p:sp>
        <p:nvSpPr>
          <p:cNvPr id="36" name="Text 26"/>
          <p:cNvSpPr txBox="1"/>
          <p:nvPr/>
        </p:nvSpPr>
        <p:spPr>
          <a:xfrm>
            <a:off x="992124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pic>
        <p:nvPicPr>
          <p:cNvPr id="37" name="Image 8" descr="preencoded.png">    </p:cNvPr>
          <p:cNvPicPr>
            <a:picLocks noChangeAspect="1"/>
          </p:cNvPicPr>
          <p:nvPr/>
        </p:nvPicPr>
        <p:blipFill>
          <a:blip r:embed="rId9"/>
          <a:stretch>
            <a:fillRect/>
          </a:stretch>
        </p:blipFill>
        <p:spPr>
          <a:xfrm>
            <a:off x="10469880" y="1874520"/>
            <a:ext cx="548640" cy="548640"/>
          </a:xfrm>
          <a:prstGeom prst="rect">
            <a:avLst/>
          </a:prstGeom>
        </p:spPr>
      </p:pic>
      <p:sp>
        <p:nvSpPr>
          <p:cNvPr id="38" name="Text 27"/>
          <p:cNvSpPr txBox="1"/>
          <p:nvPr/>
        </p:nvSpPr>
        <p:spPr>
          <a:xfrm>
            <a:off x="9875520" y="251460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SQL Analysis</a:t>
            </a:r>
            <a:endParaRPr lang="en-US" sz="1350" dirty="0"/>
          </a:p>
        </p:txBody>
      </p:sp>
      <p:sp>
        <p:nvSpPr>
          <p:cNvPr id="39" name="Text 28"/>
          <p:cNvSpPr txBox="1"/>
          <p:nvPr/>
        </p:nvSpPr>
        <p:spPr>
          <a:xfrm>
            <a:off x="9875520" y="288036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Query the sales metrics</a:t>
            </a:r>
            <a:endParaRPr lang="en-US" sz="1150" dirty="0"/>
          </a:p>
        </p:txBody>
      </p:sp>
      <p:sp>
        <p:nvSpPr>
          <p:cNvPr id="40" name="Shape 29"/>
          <p:cNvSpPr/>
          <p:nvPr/>
        </p:nvSpPr>
        <p:spPr>
          <a:xfrm>
            <a:off x="9784080" y="4114800"/>
            <a:ext cx="1920240" cy="1828800"/>
          </a:xfrm>
          <a:prstGeom prst="roundRect">
            <a:avLst>
              <a:gd name="adj" fmla="val 5000"/>
            </a:avLst>
          </a:prstGeom>
          <a:solidFill>
            <a:srgbClr val="F5EDE0"/>
          </a:solidFill>
          <a:ln w="12700">
            <a:solidFill>
              <a:srgbClr val="F5EDE0"/>
            </a:solidFill>
            <a:prstDash val="solid"/>
          </a:ln>
        </p:spPr>
      </p:sp>
      <p:sp>
        <p:nvSpPr>
          <p:cNvPr id="41" name="Shape 30"/>
          <p:cNvSpPr/>
          <p:nvPr/>
        </p:nvSpPr>
        <p:spPr>
          <a:xfrm>
            <a:off x="9921240" y="4251960"/>
            <a:ext cx="384048" cy="384048"/>
          </a:xfrm>
          <a:prstGeom prst="ellipse">
            <a:avLst/>
          </a:prstGeom>
          <a:solidFill>
            <a:srgbClr val="6F4E37"/>
          </a:solidFill>
          <a:ln w="12700">
            <a:solidFill>
              <a:srgbClr val="6F4E37"/>
            </a:solidFill>
            <a:prstDash val="solid"/>
          </a:ln>
        </p:spPr>
      </p:sp>
      <p:sp>
        <p:nvSpPr>
          <p:cNvPr id="42" name="Text 31"/>
          <p:cNvSpPr txBox="1"/>
          <p:nvPr/>
        </p:nvSpPr>
        <p:spPr>
          <a:xfrm>
            <a:off x="992124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pic>
        <p:nvPicPr>
          <p:cNvPr id="43" name="Image 9" descr="preencoded.png">    </p:cNvPr>
          <p:cNvPicPr>
            <a:picLocks noChangeAspect="1"/>
          </p:cNvPicPr>
          <p:nvPr/>
        </p:nvPicPr>
        <p:blipFill>
          <a:blip r:embed="rId10"/>
          <a:stretch>
            <a:fillRect/>
          </a:stretch>
        </p:blipFill>
        <p:spPr>
          <a:xfrm>
            <a:off x="10469880" y="4434840"/>
            <a:ext cx="548640" cy="548640"/>
          </a:xfrm>
          <a:prstGeom prst="rect">
            <a:avLst/>
          </a:prstGeom>
        </p:spPr>
      </p:pic>
      <p:sp>
        <p:nvSpPr>
          <p:cNvPr id="44" name="Text 32"/>
          <p:cNvSpPr txBox="1"/>
          <p:nvPr/>
        </p:nvSpPr>
        <p:spPr>
          <a:xfrm>
            <a:off x="9875520" y="507492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Export Clean Dataset</a:t>
            </a:r>
            <a:endParaRPr lang="en-US" sz="1350" dirty="0"/>
          </a:p>
        </p:txBody>
      </p:sp>
      <p:sp>
        <p:nvSpPr>
          <p:cNvPr id="45" name="Text 33"/>
          <p:cNvSpPr txBox="1"/>
          <p:nvPr/>
        </p:nvSpPr>
        <p:spPr>
          <a:xfrm>
            <a:off x="9875520" y="544068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Cleaned data for Excel</a:t>
            </a:r>
            <a:endParaRPr lang="en-US" sz="1150" dirty="0"/>
          </a:p>
        </p:txBody>
      </p:sp>
      <p:pic>
        <p:nvPicPr>
          <p:cNvPr id="46" name="Image 10" descr="preencoded.png">    </p:cNvPr>
          <p:cNvPicPr>
            <a:picLocks noChangeAspect="1"/>
          </p:cNvPicPr>
          <p:nvPr/>
        </p:nvPicPr>
        <p:blipFill>
          <a:blip r:embed="rId11"/>
          <a:stretch>
            <a:fillRect/>
          </a:stretch>
        </p:blipFill>
        <p:spPr>
          <a:xfrm>
            <a:off x="9445752" y="4901184"/>
            <a:ext cx="256032" cy="256032"/>
          </a:xfrm>
          <a:prstGeom prst="rect">
            <a:avLst/>
          </a:prstGeom>
        </p:spPr>
      </p:pic>
      <p:sp>
        <p:nvSpPr>
          <p:cNvPr id="47" name="Shape 34"/>
          <p:cNvSpPr/>
          <p:nvPr/>
        </p:nvSpPr>
        <p:spPr>
          <a:xfrm>
            <a:off x="7452360" y="4114800"/>
            <a:ext cx="1920240" cy="1828800"/>
          </a:xfrm>
          <a:prstGeom prst="roundRect">
            <a:avLst>
              <a:gd name="adj" fmla="val 5000"/>
            </a:avLst>
          </a:prstGeom>
          <a:solidFill>
            <a:srgbClr val="F5EDE0"/>
          </a:solidFill>
          <a:ln w="12700">
            <a:solidFill>
              <a:srgbClr val="F5EDE0"/>
            </a:solidFill>
            <a:prstDash val="solid"/>
          </a:ln>
        </p:spPr>
      </p:sp>
      <p:sp>
        <p:nvSpPr>
          <p:cNvPr id="48" name="Shape 35"/>
          <p:cNvSpPr/>
          <p:nvPr/>
        </p:nvSpPr>
        <p:spPr>
          <a:xfrm>
            <a:off x="7589520" y="4251960"/>
            <a:ext cx="384048" cy="384048"/>
          </a:xfrm>
          <a:prstGeom prst="ellipse">
            <a:avLst/>
          </a:prstGeom>
          <a:solidFill>
            <a:srgbClr val="6F4E37"/>
          </a:solidFill>
          <a:ln w="12700">
            <a:solidFill>
              <a:srgbClr val="6F4E37"/>
            </a:solidFill>
            <a:prstDash val="solid"/>
          </a:ln>
        </p:spPr>
      </p:sp>
      <p:sp>
        <p:nvSpPr>
          <p:cNvPr id="49" name="Text 36"/>
          <p:cNvSpPr txBox="1"/>
          <p:nvPr/>
        </p:nvSpPr>
        <p:spPr>
          <a:xfrm>
            <a:off x="758952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pic>
        <p:nvPicPr>
          <p:cNvPr id="50" name="Image 11" descr="preencoded.png">    </p:cNvPr>
          <p:cNvPicPr>
            <a:picLocks noChangeAspect="1"/>
          </p:cNvPicPr>
          <p:nvPr/>
        </p:nvPicPr>
        <p:blipFill>
          <a:blip r:embed="rId12"/>
          <a:stretch>
            <a:fillRect/>
          </a:stretch>
        </p:blipFill>
        <p:spPr>
          <a:xfrm>
            <a:off x="8138160" y="4434840"/>
            <a:ext cx="548640" cy="548640"/>
          </a:xfrm>
          <a:prstGeom prst="rect">
            <a:avLst/>
          </a:prstGeom>
        </p:spPr>
      </p:pic>
      <p:sp>
        <p:nvSpPr>
          <p:cNvPr id="51" name="Text 37"/>
          <p:cNvSpPr txBox="1"/>
          <p:nvPr/>
        </p:nvSpPr>
        <p:spPr>
          <a:xfrm>
            <a:off x="7543800" y="507492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Excel Pivot Tables</a:t>
            </a:r>
            <a:endParaRPr lang="en-US" sz="1350" dirty="0"/>
          </a:p>
        </p:txBody>
      </p:sp>
      <p:sp>
        <p:nvSpPr>
          <p:cNvPr id="52" name="Text 38"/>
          <p:cNvSpPr txBox="1"/>
          <p:nvPr/>
        </p:nvSpPr>
        <p:spPr>
          <a:xfrm>
            <a:off x="7543800" y="544068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Summarise sales</a:t>
            </a:r>
            <a:endParaRPr lang="en-US" sz="1150" dirty="0"/>
          </a:p>
        </p:txBody>
      </p:sp>
      <p:pic>
        <p:nvPicPr>
          <p:cNvPr id="53" name="Image 12" descr="preencoded.png">    </p:cNvPr>
          <p:cNvPicPr>
            <a:picLocks noChangeAspect="1"/>
          </p:cNvPicPr>
          <p:nvPr/>
        </p:nvPicPr>
        <p:blipFill>
          <a:blip r:embed="rId13"/>
          <a:stretch>
            <a:fillRect/>
          </a:stretch>
        </p:blipFill>
        <p:spPr>
          <a:xfrm>
            <a:off x="7114032" y="4901184"/>
            <a:ext cx="256032" cy="256032"/>
          </a:xfrm>
          <a:prstGeom prst="rect">
            <a:avLst/>
          </a:prstGeom>
        </p:spPr>
      </p:pic>
      <p:sp>
        <p:nvSpPr>
          <p:cNvPr id="54" name="Shape 39"/>
          <p:cNvSpPr/>
          <p:nvPr/>
        </p:nvSpPr>
        <p:spPr>
          <a:xfrm>
            <a:off x="5120640" y="4114800"/>
            <a:ext cx="1920240" cy="1828800"/>
          </a:xfrm>
          <a:prstGeom prst="roundRect">
            <a:avLst>
              <a:gd name="adj" fmla="val 5000"/>
            </a:avLst>
          </a:prstGeom>
          <a:solidFill>
            <a:srgbClr val="F5EDE0"/>
          </a:solidFill>
          <a:ln w="12700">
            <a:solidFill>
              <a:srgbClr val="F5EDE0"/>
            </a:solidFill>
            <a:prstDash val="solid"/>
          </a:ln>
        </p:spPr>
      </p:sp>
      <p:sp>
        <p:nvSpPr>
          <p:cNvPr id="55" name="Shape 40"/>
          <p:cNvSpPr/>
          <p:nvPr/>
        </p:nvSpPr>
        <p:spPr>
          <a:xfrm>
            <a:off x="5257800" y="4251960"/>
            <a:ext cx="384048" cy="384048"/>
          </a:xfrm>
          <a:prstGeom prst="ellipse">
            <a:avLst/>
          </a:prstGeom>
          <a:solidFill>
            <a:srgbClr val="6F4E37"/>
          </a:solidFill>
          <a:ln w="12700">
            <a:solidFill>
              <a:srgbClr val="6F4E37"/>
            </a:solidFill>
            <a:prstDash val="solid"/>
          </a:ln>
        </p:spPr>
      </p:sp>
      <p:sp>
        <p:nvSpPr>
          <p:cNvPr id="56" name="Text 41"/>
          <p:cNvSpPr txBox="1"/>
          <p:nvPr/>
        </p:nvSpPr>
        <p:spPr>
          <a:xfrm>
            <a:off x="525780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pic>
        <p:nvPicPr>
          <p:cNvPr id="57" name="Image 13" descr="preencoded.png">    </p:cNvPr>
          <p:cNvPicPr>
            <a:picLocks noChangeAspect="1"/>
          </p:cNvPicPr>
          <p:nvPr/>
        </p:nvPicPr>
        <p:blipFill>
          <a:blip r:embed="rId14"/>
          <a:stretch>
            <a:fillRect/>
          </a:stretch>
        </p:blipFill>
        <p:spPr>
          <a:xfrm>
            <a:off x="5806440" y="4434840"/>
            <a:ext cx="548640" cy="548640"/>
          </a:xfrm>
          <a:prstGeom prst="rect">
            <a:avLst/>
          </a:prstGeom>
        </p:spPr>
      </p:pic>
      <p:sp>
        <p:nvSpPr>
          <p:cNvPr id="58" name="Text 42"/>
          <p:cNvSpPr txBox="1"/>
          <p:nvPr/>
        </p:nvSpPr>
        <p:spPr>
          <a:xfrm>
            <a:off x="5212080" y="507492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Graphs &amp; Dashboard</a:t>
            </a:r>
            <a:endParaRPr lang="en-US" sz="1350" dirty="0"/>
          </a:p>
        </p:txBody>
      </p:sp>
      <p:sp>
        <p:nvSpPr>
          <p:cNvPr id="59" name="Text 43"/>
          <p:cNvSpPr txBox="1"/>
          <p:nvPr/>
        </p:nvSpPr>
        <p:spPr>
          <a:xfrm>
            <a:off x="5212080" y="544068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Visualise performance</a:t>
            </a:r>
            <a:endParaRPr lang="en-US" sz="1150" dirty="0"/>
          </a:p>
        </p:txBody>
      </p:sp>
      <p:pic>
        <p:nvPicPr>
          <p:cNvPr id="60" name="Image 14" descr="preencoded.png">    </p:cNvPr>
          <p:cNvPicPr>
            <a:picLocks noChangeAspect="1"/>
          </p:cNvPicPr>
          <p:nvPr/>
        </p:nvPicPr>
        <p:blipFill>
          <a:blip r:embed="rId15"/>
          <a:stretch>
            <a:fillRect/>
          </a:stretch>
        </p:blipFill>
        <p:spPr>
          <a:xfrm>
            <a:off x="4782312" y="4901184"/>
            <a:ext cx="256032" cy="256032"/>
          </a:xfrm>
          <a:prstGeom prst="rect">
            <a:avLst/>
          </a:prstGeom>
        </p:spPr>
      </p:pic>
      <p:sp>
        <p:nvSpPr>
          <p:cNvPr id="61" name="Shape 44"/>
          <p:cNvSpPr/>
          <p:nvPr/>
        </p:nvSpPr>
        <p:spPr>
          <a:xfrm>
            <a:off x="2788920" y="4114800"/>
            <a:ext cx="1920240" cy="1828800"/>
          </a:xfrm>
          <a:prstGeom prst="roundRect">
            <a:avLst>
              <a:gd name="adj" fmla="val 5000"/>
            </a:avLst>
          </a:prstGeom>
          <a:solidFill>
            <a:srgbClr val="F5EDE0"/>
          </a:solidFill>
          <a:ln w="12700">
            <a:solidFill>
              <a:srgbClr val="F5EDE0"/>
            </a:solidFill>
            <a:prstDash val="solid"/>
          </a:ln>
        </p:spPr>
      </p:sp>
      <p:sp>
        <p:nvSpPr>
          <p:cNvPr id="62" name="Shape 45"/>
          <p:cNvSpPr/>
          <p:nvPr/>
        </p:nvSpPr>
        <p:spPr>
          <a:xfrm>
            <a:off x="2926080" y="4251960"/>
            <a:ext cx="384048" cy="384048"/>
          </a:xfrm>
          <a:prstGeom prst="ellipse">
            <a:avLst/>
          </a:prstGeom>
          <a:solidFill>
            <a:srgbClr val="6F4E37"/>
          </a:solidFill>
          <a:ln w="12700">
            <a:solidFill>
              <a:srgbClr val="6F4E37"/>
            </a:solidFill>
            <a:prstDash val="solid"/>
          </a:ln>
        </p:spPr>
      </p:sp>
      <p:sp>
        <p:nvSpPr>
          <p:cNvPr id="63" name="Text 46"/>
          <p:cNvSpPr txBox="1"/>
          <p:nvPr/>
        </p:nvSpPr>
        <p:spPr>
          <a:xfrm>
            <a:off x="292608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pic>
        <p:nvPicPr>
          <p:cNvPr id="64" name="Image 15" descr="preencoded.png">    </p:cNvPr>
          <p:cNvPicPr>
            <a:picLocks noChangeAspect="1"/>
          </p:cNvPicPr>
          <p:nvPr/>
        </p:nvPicPr>
        <p:blipFill>
          <a:blip r:embed="rId16"/>
          <a:stretch>
            <a:fillRect/>
          </a:stretch>
        </p:blipFill>
        <p:spPr>
          <a:xfrm>
            <a:off x="3474720" y="4434840"/>
            <a:ext cx="548640" cy="548640"/>
          </a:xfrm>
          <a:prstGeom prst="rect">
            <a:avLst/>
          </a:prstGeom>
        </p:spPr>
      </p:pic>
      <p:sp>
        <p:nvSpPr>
          <p:cNvPr id="65" name="Text 47"/>
          <p:cNvSpPr txBox="1"/>
          <p:nvPr/>
        </p:nvSpPr>
        <p:spPr>
          <a:xfrm>
            <a:off x="2880360" y="507492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Presentation</a:t>
            </a:r>
            <a:endParaRPr lang="en-US" sz="1350" dirty="0"/>
          </a:p>
        </p:txBody>
      </p:sp>
      <p:sp>
        <p:nvSpPr>
          <p:cNvPr id="66" name="Text 48"/>
          <p:cNvSpPr txBox="1"/>
          <p:nvPr/>
        </p:nvSpPr>
        <p:spPr>
          <a:xfrm>
            <a:off x="2880360" y="544068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Communicate insights</a:t>
            </a:r>
            <a:endParaRPr lang="en-US" sz="1150" dirty="0"/>
          </a:p>
        </p:txBody>
      </p:sp>
      <p:pic>
        <p:nvPicPr>
          <p:cNvPr id="67" name="Image 16" descr="preencoded.png">    </p:cNvPr>
          <p:cNvPicPr>
            <a:picLocks noChangeAspect="1"/>
          </p:cNvPicPr>
          <p:nvPr/>
        </p:nvPicPr>
        <p:blipFill>
          <a:blip r:embed="rId17"/>
          <a:stretch>
            <a:fillRect/>
          </a:stretch>
        </p:blipFill>
        <p:spPr>
          <a:xfrm>
            <a:off x="2450592" y="4901184"/>
            <a:ext cx="256032" cy="256032"/>
          </a:xfrm>
          <a:prstGeom prst="rect">
            <a:avLst/>
          </a:prstGeom>
        </p:spPr>
      </p:pic>
      <p:sp>
        <p:nvSpPr>
          <p:cNvPr id="68" name="Shape 49"/>
          <p:cNvSpPr/>
          <p:nvPr/>
        </p:nvSpPr>
        <p:spPr>
          <a:xfrm>
            <a:off x="457200" y="4114800"/>
            <a:ext cx="1920240" cy="1828800"/>
          </a:xfrm>
          <a:prstGeom prst="roundRect">
            <a:avLst>
              <a:gd name="adj" fmla="val 5000"/>
            </a:avLst>
          </a:prstGeom>
          <a:solidFill>
            <a:srgbClr val="F5EDE0"/>
          </a:solidFill>
          <a:ln w="12700">
            <a:solidFill>
              <a:srgbClr val="F5EDE0"/>
            </a:solidFill>
            <a:prstDash val="solid"/>
          </a:ln>
        </p:spPr>
      </p:sp>
      <p:sp>
        <p:nvSpPr>
          <p:cNvPr id="69" name="Shape 50"/>
          <p:cNvSpPr/>
          <p:nvPr/>
        </p:nvSpPr>
        <p:spPr>
          <a:xfrm>
            <a:off x="594360" y="4251960"/>
            <a:ext cx="384048" cy="384048"/>
          </a:xfrm>
          <a:prstGeom prst="ellipse">
            <a:avLst/>
          </a:prstGeom>
          <a:solidFill>
            <a:srgbClr val="6F4E37"/>
          </a:solidFill>
          <a:ln w="12700">
            <a:solidFill>
              <a:srgbClr val="6F4E37"/>
            </a:solidFill>
            <a:prstDash val="solid"/>
          </a:ln>
        </p:spPr>
      </p:sp>
      <p:sp>
        <p:nvSpPr>
          <p:cNvPr id="70" name="Text 51"/>
          <p:cNvSpPr txBox="1"/>
          <p:nvPr/>
        </p:nvSpPr>
        <p:spPr>
          <a:xfrm>
            <a:off x="594360"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pic>
        <p:nvPicPr>
          <p:cNvPr id="71" name="Image 17" descr="preencoded.png">    </p:cNvPr>
          <p:cNvPicPr>
            <a:picLocks noChangeAspect="1"/>
          </p:cNvPicPr>
          <p:nvPr/>
        </p:nvPicPr>
        <p:blipFill>
          <a:blip r:embed="rId18"/>
          <a:stretch>
            <a:fillRect/>
          </a:stretch>
        </p:blipFill>
        <p:spPr>
          <a:xfrm>
            <a:off x="1143000" y="4434840"/>
            <a:ext cx="548640" cy="548640"/>
          </a:xfrm>
          <a:prstGeom prst="rect">
            <a:avLst/>
          </a:prstGeom>
        </p:spPr>
      </p:pic>
      <p:sp>
        <p:nvSpPr>
          <p:cNvPr id="72" name="Text 52"/>
          <p:cNvSpPr txBox="1"/>
          <p:nvPr/>
        </p:nvSpPr>
        <p:spPr>
          <a:xfrm>
            <a:off x="548640" y="5074920"/>
            <a:ext cx="1737360" cy="365760"/>
          </a:xfrm>
          <a:prstGeom prst="rect">
            <a:avLst/>
          </a:prstGeom>
          <a:noFill/>
          <a:ln/>
        </p:spPr>
        <p:txBody>
          <a:bodyPr wrap="square" lIns="0" tIns="0" rIns="0" bIns="0" rtlCol="0" anchor="ctr"/>
          <a:lstStyle/>
          <a:p>
            <a:pPr algn="ctr" indent="0" marL="0">
              <a:buNone/>
            </a:pPr>
            <a:r>
              <a:rPr lang="en-US" sz="1350" b="1" dirty="0">
                <a:solidFill>
                  <a:srgbClr val="2B1A12"/>
                </a:solidFill>
                <a:latin typeface="Calibri" pitchFamily="34" charset="0"/>
                <a:ea typeface="Calibri" pitchFamily="34" charset="-122"/>
                <a:cs typeface="Calibri" pitchFamily="34" charset="-120"/>
              </a:rPr>
              <a:t>GitHub</a:t>
            </a:r>
            <a:endParaRPr lang="en-US" sz="1350" dirty="0"/>
          </a:p>
        </p:txBody>
      </p:sp>
      <p:sp>
        <p:nvSpPr>
          <p:cNvPr id="73" name="Text 53"/>
          <p:cNvSpPr txBox="1"/>
          <p:nvPr/>
        </p:nvSpPr>
        <p:spPr>
          <a:xfrm>
            <a:off x="548640" y="5440680"/>
            <a:ext cx="1737360" cy="365760"/>
          </a:xfrm>
          <a:prstGeom prst="rect">
            <a:avLst/>
          </a:prstGeom>
          <a:noFill/>
          <a:ln/>
        </p:spPr>
        <p:txBody>
          <a:bodyPr wrap="square" lIns="0" tIns="0" rIns="0" bIns="0" rtlCol="0" anchor="t"/>
          <a:lstStyle/>
          <a:p>
            <a:pPr algn="ctr" indent="0" marL="0">
              <a:buNone/>
            </a:pPr>
            <a:r>
              <a:rPr lang="en-US" sz="1150" dirty="0">
                <a:solidFill>
                  <a:srgbClr val="6B5D52"/>
                </a:solidFill>
                <a:latin typeface="Calibri" pitchFamily="34" charset="0"/>
                <a:ea typeface="Calibri" pitchFamily="34" charset="-122"/>
                <a:cs typeface="Calibri" pitchFamily="34" charset="-120"/>
              </a:rPr>
              <a:t>Publish the project</a:t>
            </a:r>
            <a:endParaRPr lang="en-US" sz="1150" dirty="0"/>
          </a:p>
        </p:txBody>
      </p:sp>
      <p:pic>
        <p:nvPicPr>
          <p:cNvPr id="74" name="Image 18" descr="preencoded.png">    </p:cNvPr>
          <p:cNvPicPr>
            <a:picLocks noChangeAspect="1"/>
          </p:cNvPicPr>
          <p:nvPr/>
        </p:nvPicPr>
        <p:blipFill>
          <a:blip r:embed="rId19"/>
          <a:stretch>
            <a:fillRect/>
          </a:stretch>
        </p:blipFill>
        <p:spPr>
          <a:xfrm>
            <a:off x="10607040" y="3456432"/>
            <a:ext cx="274320" cy="2743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Monthly Revenue Trend</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Revenue climbed strongly from February to April after a small dip at the start of the year. May looks lower only because the data ends on 19 May; on a per-day basis May is the strongest month (see the Average Daily Revenue slide). With under five months of data, growth cannot yet be separated from seasonality. Recommendation: extend the dataset through June and compare months on average daily revenue.</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Revenue by Month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280160"/>
                <a:gridCol w="1097280"/>
                <a:gridCol w="731520"/>
                <a:gridCol w="1124712"/>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Month</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Days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Avg / day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Jan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81,678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2,635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Feb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76,145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2,719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Mar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98,835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3,188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Apr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118,941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3,965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May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90,955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4,787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29718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3264408"/>
            <a:ext cx="4233672" cy="30906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Revenue fell from 81,678 in January to 76,145 in February (6.8% lower), the shortest month at 28 days.</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March rose 29.8% to 98,835 and April rose a further 20.3% to 118,941, the highest month.</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May covers 1-19 May only (*), so its total of 90,955 is not comparable with full months.</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Lowest month: February (76,145). Highest month: April (118,941).</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Revenue by Product Category</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5</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Sales are concentrated in a few categories: two of the nine categories produce two thirds of revenue, and the top four produce 88.9%. Coffee and Tea are therefore the most important lines to keep available and consistent. Bakery and Drinking Chocolate form a solid second tier. Recommendation: protect stock and quality of Coffee and Tea, and test promotions that pair Bakery with these drinks.</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Revenue by Category</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828800"/>
                <a:gridCol w="1280160"/>
                <a:gridCol w="1124712"/>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179,388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38.4%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131,355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Bakery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55,465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Drinking Chocolate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48,592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Coffee beans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26,470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Branded</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8,956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Loose 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7,564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Flavours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5,663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Packaged Chocolate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3,101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38862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4178808"/>
            <a:ext cx="4233672"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Coffee is the top category: 179,388 revenue, 38.4% of the total.</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Tea is second with 131,355 (28.2%); Coffee and Tea together deliver 66.6% of revenue.</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Bakery (55,465) and Drinking Chocolate (48,592) follow at 11.9% and 10.4%.</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 five smallest categories share 11.1%; Packaged Chocolate is lowest at 3,101 (0.7%).</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Top 10 Product Types by Revenue</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Revenue is highly concentrated: ten of 29 product types produce almost four fifths of sales, and the leader alone accounts for 13%. Hot drinks dominate the ranking; Scone (24,678) is the only bakery item to appear. This makes the Top 10 the priority for stock availability, staff training and menu placement. Recommendation: protect these ten lines and review the lowest-earning types for range simplification.</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Top 10 Product Types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828800"/>
                <a:gridCol w="1280160"/>
                <a:gridCol w="1124712"/>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Product type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Barista Espresso</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60,677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Brewed Chai 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51,508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Hot chocolate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48,592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Gourmet brewed 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46,313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Brewed Black 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32,272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Brewed herbal 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31,557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Premium brewed 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25,962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Organic brewed 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25,299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Scone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24,678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Drip 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21,138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bl>
          </a:graphicData>
        </a:graphic>
      </p:graphicFrame>
      <p:sp>
        <p:nvSpPr>
          <p:cNvPr id="12" name="Text 8"/>
          <p:cNvSpPr txBox="1"/>
          <p:nvPr/>
        </p:nvSpPr>
        <p:spPr>
          <a:xfrm>
            <a:off x="7498080" y="41148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4407408"/>
            <a:ext cx="4233672" cy="19476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Barista Espresso leads with 60,677 (13.0% of revenue), then Brewed Chai tea (51,508) and Hot chocolate (48,592).</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 Top 10 product types generate 367,994, or 78.9% of all revenue (29 types in total).</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Five of the Top 10 are Coffee types and three are Tea types.</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 10th type, Drip coffee, still earns 21,138 (4.5%).</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Units Sold by Product Category</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Volume and revenue tell different stories. Coffee and Tea lead on both, but Flavours ranks fifth on units and eighth on revenue because it is low priced, while Coffee beans and Branded items earn much more per unit from very few sales. Use units for stock and ordering decisions and revenue for commercial priorities. Recommendation: keep high-volume lines well stocked and test promotion of high-value, low-volume lines.</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Units by Category</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417320"/>
                <a:gridCol w="868680"/>
                <a:gridCol w="1033272"/>
                <a:gridCol w="91440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Category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Units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units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 / unit</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Coffee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59,260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41.4%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3.03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46,656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32.6%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Bakery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15,624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10.9%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3.55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Drinking Chocolate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11,713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4.15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Flavours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7,079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Coffee beans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1,221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21.68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Loose Tea</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817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9.26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Branded</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515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17.39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Packaged Chocolate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340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9.12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38862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4178808"/>
            <a:ext cx="4233672" cy="21762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Coffee sells the most units: 59,260 (41.4%), followed by Tea (46,656) and Bakery (15,624).</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Coffee, Tea and Bakery together account for 84.9% of units sold.</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Flavours sold 7,079 units but earned only 5,663 revenue (0.80 per unit).</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Coffee beans sold 1,221 units yet earned 26,470 (21.68 per unit); Packaged Chocolate sold the fewest (340).</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Revenue by 30-Minute Time Interval</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Demand is concentrated in the morning, building from 06:00 and holding a high plateau from 08:00 to 10:30 before falling by roughly half at 11:00. Afternoon and early-evening trade is steady but flat, and trading after 20:00 is close to zero. Recommendation: ensure full staffing and stock before 08:00 and through 10:30, test offers to lift the flat afternoon period, and review whether trading after 20:00 is worthwhile.</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Top 5 of 30 Intervals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097280"/>
                <a:gridCol w="1188720"/>
                <a:gridCol w="1033272"/>
                <a:gridCol w="91440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Interval</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Units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29,579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8,971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29,106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8,707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09:30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28,429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8,400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09:00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28,293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8,434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08:30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27,507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5.9%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8,502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29718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3264408"/>
            <a:ext cx="4233672" cy="30906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 peak interval is 10:30 with 29,579 revenue; 08:00 to 10:30 each earn 27,272 to 29,579.</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These six intervals produce 36.5% of all revenue.</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Revenue drops sharply after 10:30: 17,212 at 11:00, then a flat 12,900 to 14,500 until 18:00.</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Lowest intervals: 20:00 (873) and 20:30 (922), followed by 06:00 (4,308).</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Revenue by Store Location</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The three stores perform very similarly, with revenue split almost evenly. No location is far ahead or far behind, so the business is not reliant on a single store. Lower Manhattan's gap comes from fewer transactions rather than smaller baskets. The data cannot explain the difference. Recommendation: investigate transaction volume at Lower Manhattan locally and share practices from Hell's Kitchen.</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Revenue by Store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188720"/>
                <a:gridCol w="868680"/>
                <a:gridCol w="731520"/>
                <a:gridCol w="786384"/>
                <a:gridCol w="658368"/>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Store</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Revenue</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 of total</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Transactions</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Avg txn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Hell's Kitchen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159,219</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34.1%</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34,253</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4.65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Astoria</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154,756</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33.2%</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33,685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4.59</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Lower Manhattan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152,579</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32.7%</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32,062</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4.76</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2624328"/>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2916936"/>
            <a:ext cx="4233672" cy="3438144"/>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Hell's Kitchen earned the most: 159,219 (34.1% of revenue), from 34,253 transactions.</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Astoria follows with 154,756 (33.2%) and Lower Manhattan is lowest with 152,579 (32.7%).</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The top store is only 4.4% ahead of the lowest.</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Lower Manhattan has the fewest transactions (32,062) but the highest average value (4.76).</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Monthly Revenue by Store Location</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The sales trend is consistent across locations, which suggests the changes in revenue are business-wide rather than driven by one store. The gap between stores was small until May, when Lower Manhattan and Astoria fell further behind Hell's Kitchen on a partial month. Recommendation: monitor Lower Manhattan and Astoria against Hell's Kitchen once complete May and June data is available.</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Month by Store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777240"/>
                <a:gridCol w="868680"/>
                <a:gridCol w="777240"/>
                <a:gridCol w="960120"/>
                <a:gridCol w="850392"/>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Month</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Hell's Kitchen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Astoria</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Lower Manhattan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Jan</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27,821</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27,314</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26,543</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81,678</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Feb</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25,720</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25,105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25,320</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76,145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Mar</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33,111</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32,835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32,889</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98,835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Apr</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40,304</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39,478</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39,159</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118,941</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May*</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32,264</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30,024</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28,668</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A1A1A"/>
                          </a:solidFill>
                          <a:latin typeface="Calibri" pitchFamily="34" charset="0"/>
                          <a:ea typeface="Calibri" pitchFamily="34" charset="-122"/>
                          <a:cs typeface="Calibri" pitchFamily="34" charset="-120"/>
                        </a:rPr>
                        <a:t>90,955</a:t>
                      </a:r>
                      <a:endParaRPr lang="en-US" sz="9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3081528"/>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3374136"/>
            <a:ext cx="4233672" cy="2980944"/>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All three stores follow the same shape: a February dip, then growth to a peak in April.</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Hell's Kitchen has the highest revenue in every month of the data.</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In April the three stores are within 2.9% of each other (39,159 to 40,304).</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In May (1-19 only) the gap widens: Hell's Kitchen 32,264 versus Lower Manhattan 28,668 (12.5% higher).</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Average Daily Revenue by Month</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Dividing by the number of days with data removes the distortion from short and partial months. On this basis sales grew steadily throughout the period, and May, which looked like a decline on raw totals, is actually the strongest month. This is the fairest measure of the trend. Recommendation: track average daily revenue as the headline monthly metric, and confirm the May result once the full month is available.</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Average Daily Revenue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1280160"/>
                <a:gridCol w="731520"/>
                <a:gridCol w="1097280"/>
                <a:gridCol w="1124712"/>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Month</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Days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Avg / day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Jan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81,678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2,635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Feb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76,145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2,719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Mar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98,835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3,188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Apr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118,941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3,965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May 2023*</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90,955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4,787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29718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3264408"/>
            <a:ext cx="4233672" cy="30906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Average daily revenue rose every month, from 2,635 in January to 4,787 in May.</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That is an increase of 81.7% between January and May.</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February looks weakest on raw totals, yet its daily average (2,719) is above January (2,635).</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Growth per day: March +17.2%, April +24.4%, May +20.7% versus the prior month.</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2800" b="1" dirty="0">
                <a:solidFill>
                  <a:srgbClr val="2B1A12"/>
                </a:solidFill>
                <a:latin typeface="Cambria" pitchFamily="34" charset="0"/>
                <a:ea typeface="Cambria" pitchFamily="34" charset="-122"/>
                <a:cs typeface="Cambria" pitchFamily="34" charset="-120"/>
              </a:rPr>
              <a:t>Revenue by Day of Week</a:t>
            </a:r>
            <a:endParaRPr lang="en-US" sz="28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457200" y="1051560"/>
            <a:ext cx="6766560" cy="3429000"/>
          </a:xfrm>
          <a:prstGeom prst="rect">
            <a:avLst/>
          </a:prstGeom>
          <a:solidFill>
            <a:srgbClr val="FFFFFF"/>
          </a:solidFill>
          <a:ln w="12700">
            <a:solidFill>
              <a:srgbClr val="D9CBB8"/>
            </a:solidFill>
            <a:prstDash val="solid"/>
          </a:ln>
        </p:spPr>
      </p:sp>
      <p:graphicFrame>
        <p:nvGraphicFramePr>
          <p:cNvPr id="6" name="Chart 0" descr=""/>
          <p:cNvGraphicFramePr/>
          <p:nvPr/>
        </p:nvGraphicFramePr>
        <p:xfrm>
          <a:off x="548640" y="1115568"/>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457200" y="4663440"/>
            <a:ext cx="6766560" cy="1691640"/>
          </a:xfrm>
          <a:prstGeom prst="roundRect">
            <a:avLst>
              <a:gd name="adj" fmla="val 5405"/>
            </a:avLst>
          </a:prstGeom>
          <a:solidFill>
            <a:srgbClr val="F5EDE0"/>
          </a:solidFill>
          <a:ln w="12700">
            <a:solidFill>
              <a:srgbClr val="F5EDE0"/>
            </a:solidFill>
            <a:prstDash val="solid"/>
          </a:ln>
        </p:spPr>
      </p:sp>
      <p:sp>
        <p:nvSpPr>
          <p:cNvPr id="8" name="Text 5"/>
          <p:cNvSpPr txBox="1"/>
          <p:nvPr/>
        </p:nvSpPr>
        <p:spPr>
          <a:xfrm>
            <a:off x="640080" y="4736592"/>
            <a:ext cx="6309360"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Business Analysis</a:t>
            </a:r>
            <a:endParaRPr lang="en-US" sz="1300" dirty="0"/>
          </a:p>
        </p:txBody>
      </p:sp>
      <p:sp>
        <p:nvSpPr>
          <p:cNvPr id="9" name="Text 6"/>
          <p:cNvSpPr txBox="1"/>
          <p:nvPr/>
        </p:nvSpPr>
        <p:spPr>
          <a:xfrm>
            <a:off x="640080" y="5029200"/>
            <a:ext cx="6400800" cy="1280160"/>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There is no strong day-of-week pattern: weekend days earn almost the same per day as weekdays, and the gap between the best and worst day is about 10% on raw totals. The apparent Saturday low is partly because Saturday has one fewer date in the data. Recommendation: keep staffing and opening hours broadly consistent across the week, and monitor Fridays, which have the lowest daily average.</a:t>
            </a:r>
            <a:endParaRPr lang="en-US" sz="1250" dirty="0"/>
          </a:p>
        </p:txBody>
      </p:sp>
      <p:sp>
        <p:nvSpPr>
          <p:cNvPr id="10" name="Text 7"/>
          <p:cNvSpPr txBox="1"/>
          <p:nvPr/>
        </p:nvSpPr>
        <p:spPr>
          <a:xfrm>
            <a:off x="7498080" y="105156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Pivot Summary: Revenue by Day</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498080" y="1371600"/>
          <a:ext cx="4233672" cy="914400"/>
        </p:xfrm>
        <a:graphic>
          <a:graphicData uri="http://schemas.openxmlformats.org/drawingml/2006/table">
            <a:tbl>
              <a:tblPr/>
              <a:tblGrid>
                <a:gridCol w="914400"/>
                <a:gridCol w="1280160"/>
                <a:gridCol w="1033272"/>
                <a:gridCol w="1005840"/>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Day</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 of total</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Units</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6F4E37"/>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Mon</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69,657</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14.9%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21,286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Tue</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67,119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14.4%</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20,305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Wed</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68,981</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21,145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Thu</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68,286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14.6%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21,158</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Fri</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63,076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19,576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Sat</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62,999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13.5%</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19,446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BF7F0"/>
                    </a:solidFill>
                  </a:tcPr>
                </a:tc>
              </a:tr>
              <a:tr h="228600">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Sun</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66,436</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14.2%</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A1A1A"/>
                          </a:solidFill>
                          <a:latin typeface="Calibri" pitchFamily="34" charset="0"/>
                          <a:ea typeface="Calibri" pitchFamily="34" charset="-122"/>
                          <a:cs typeface="Calibri" pitchFamily="34" charset="-120"/>
                        </a:rPr>
                        <a:t>20,309</a:t>
                      </a:r>
                      <a:endParaRPr lang="en-US" sz="1000" dirty="0">
                        <a:latin typeface="Calibri" charset="0"/>
                        <a:ea typeface="Calibri" charset="0"/>
                        <a:cs typeface="Calibri" charset="0"/>
                      </a:endParaRPr>
                    </a:p>
                  </a:txBody>
                  <a:tcPr marL="54864" marR="54864" marT="0" marB="0" anchor="ctr">
                    <a:lnL w="6350" cap="flat" cmpd="sng" algn="ctr">
                      <a:solidFill>
                        <a:srgbClr val="D9CBB8"/>
                      </a:solidFill>
                      <a:prstDash val="solid"/>
                      <a:round/>
                      <a:headEnd type="none" w="med" len="med"/>
                      <a:tailEnd type="none" w="med" len="med"/>
                    </a:lnL>
                    <a:lnR w="6350" cap="flat" cmpd="sng" algn="ctr">
                      <a:solidFill>
                        <a:srgbClr val="D9CBB8"/>
                      </a:solidFill>
                      <a:prstDash val="solid"/>
                      <a:round/>
                      <a:headEnd type="none" w="med" len="med"/>
                      <a:tailEnd type="none" w="med" len="med"/>
                    </a:lnR>
                    <a:lnT w="6350" cap="flat" cmpd="sng" algn="ctr">
                      <a:solidFill>
                        <a:srgbClr val="D9CBB8"/>
                      </a:solidFill>
                      <a:prstDash val="solid"/>
                      <a:round/>
                      <a:headEnd type="none" w="med" len="med"/>
                      <a:tailEnd type="none" w="med" len="med"/>
                    </a:lnT>
                    <a:lnB w="6350" cap="flat" cmpd="sng" algn="ctr">
                      <a:solidFill>
                        <a:srgbClr val="D9CBB8"/>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7498080" y="3429000"/>
            <a:ext cx="4233672" cy="274320"/>
          </a:xfrm>
          <a:prstGeom prst="rect">
            <a:avLst/>
          </a:prstGeom>
          <a:noFill/>
          <a:ln/>
        </p:spPr>
        <p:txBody>
          <a:bodyPr wrap="square" lIns="0" tIns="0" rIns="0" bIns="0" rtlCol="0" anchor="ctr"/>
          <a:lstStyle/>
          <a:p>
            <a:pPr indent="0" marL="0">
              <a:buNone/>
            </a:pPr>
            <a:r>
              <a:rPr lang="en-US" sz="1300" b="1" dirty="0">
                <a:solidFill>
                  <a:srgbClr val="6F4E37"/>
                </a:solidFill>
                <a:latin typeface="Cambria" pitchFamily="34" charset="0"/>
                <a:ea typeface="Cambria" pitchFamily="34" charset="-122"/>
                <a:cs typeface="Cambria" pitchFamily="34" charset="-120"/>
              </a:rPr>
              <a:t>Key Insights</a:t>
            </a:r>
            <a:endParaRPr lang="en-US" sz="1300" dirty="0"/>
          </a:p>
        </p:txBody>
      </p:sp>
      <p:sp>
        <p:nvSpPr>
          <p:cNvPr id="13" name="Text 9"/>
          <p:cNvSpPr txBox="1"/>
          <p:nvPr/>
        </p:nvSpPr>
        <p:spPr>
          <a:xfrm>
            <a:off x="7498080" y="3721608"/>
            <a:ext cx="4233672" cy="26334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Monday is the highest day with 69,657 (14.9% of revenue); Saturday is the lowest with 62,999 (13.5%).</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Revenue is spread evenly: every day contributes between 13.5% and 14.9%.</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Saturday has 19 dates in the data and every other day has 20. Per day, Friday is lowest (3,154).</a:t>
            </a:r>
            <a:endParaRPr lang="en-US" sz="1250" dirty="0"/>
          </a:p>
          <a:p>
            <a:pPr marL="177800" indent="-177800">
              <a:spcAft>
                <a:spcPts val="500"/>
              </a:spcAft>
              <a:buSzPct val="100000"/>
              <a:buChar char="•"/>
            </a:pPr>
            <a:r>
              <a:rPr lang="en-US" sz="1250" dirty="0">
                <a:solidFill>
                  <a:srgbClr val="1A1A1A"/>
                </a:solidFill>
                <a:latin typeface="Calibri" pitchFamily="34" charset="0"/>
                <a:ea typeface="Calibri" pitchFamily="34" charset="-122"/>
                <a:cs typeface="Calibri" pitchFamily="34" charset="-120"/>
              </a:rPr>
              <a:t>Weekdays average 3,371 per day and weekends 3,319 (1.6% lower).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11247120" cy="502920"/>
          </a:xfrm>
          <a:prstGeom prst="rect">
            <a:avLst/>
          </a:prstGeom>
          <a:noFill/>
          <a:ln/>
        </p:spPr>
        <p:txBody>
          <a:bodyPr wrap="square" lIns="0" tIns="0" rIns="0" bIns="0" rtlCol="0" anchor="ctr"/>
          <a:lstStyle/>
          <a:p>
            <a:pPr indent="0" marL="0">
              <a:buNone/>
            </a:pPr>
            <a:r>
              <a:rPr lang="en-US" sz="2600" b="1" dirty="0">
                <a:solidFill>
                  <a:srgbClr val="2B1A12"/>
                </a:solidFill>
                <a:latin typeface="Cambria" pitchFamily="34" charset="0"/>
                <a:ea typeface="Cambria" pitchFamily="34" charset="-122"/>
                <a:cs typeface="Cambria" pitchFamily="34" charset="-120"/>
              </a:rPr>
              <a:t>Bright Coffee Shop Dashboard</a:t>
            </a:r>
            <a:endParaRPr lang="en-US" sz="26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13</a:t>
            </a:r>
            <a:endParaRPr lang="en-US" sz="900" dirty="0"/>
          </a:p>
        </p:txBody>
      </p:sp>
      <p:sp>
        <p:nvSpPr>
          <p:cNvPr id="5" name="Shape 3"/>
          <p:cNvSpPr/>
          <p:nvPr/>
        </p:nvSpPr>
        <p:spPr>
          <a:xfrm>
            <a:off x="457200" y="777240"/>
            <a:ext cx="1764792" cy="713232"/>
          </a:xfrm>
          <a:prstGeom prst="roundRect">
            <a:avLst>
              <a:gd name="adj" fmla="val 12821"/>
            </a:avLst>
          </a:prstGeom>
          <a:solidFill>
            <a:srgbClr val="2B1A12"/>
          </a:solidFill>
          <a:ln w="12700">
            <a:solidFill>
              <a:srgbClr val="2B1A12"/>
            </a:solidFill>
            <a:prstDash val="solid"/>
          </a:ln>
        </p:spPr>
      </p:sp>
      <p:sp>
        <p:nvSpPr>
          <p:cNvPr id="6" name="Text 4"/>
          <p:cNvSpPr txBox="1"/>
          <p:nvPr/>
        </p:nvSpPr>
        <p:spPr>
          <a:xfrm>
            <a:off x="457200"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466,554</a:t>
            </a:r>
            <a:endParaRPr lang="en-US" sz="2000" dirty="0"/>
          </a:p>
        </p:txBody>
      </p:sp>
      <p:sp>
        <p:nvSpPr>
          <p:cNvPr id="7" name="Text 5"/>
          <p:cNvSpPr txBox="1"/>
          <p:nvPr/>
        </p:nvSpPr>
        <p:spPr>
          <a:xfrm>
            <a:off x="457200"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TOTAL REVENUE</a:t>
            </a:r>
            <a:endParaRPr lang="en-US" sz="850" dirty="0"/>
          </a:p>
        </p:txBody>
      </p:sp>
      <p:sp>
        <p:nvSpPr>
          <p:cNvPr id="8" name="Shape 6"/>
          <p:cNvSpPr/>
          <p:nvPr/>
        </p:nvSpPr>
        <p:spPr>
          <a:xfrm>
            <a:off x="2359152" y="777240"/>
            <a:ext cx="1764792" cy="713232"/>
          </a:xfrm>
          <a:prstGeom prst="roundRect">
            <a:avLst>
              <a:gd name="adj" fmla="val 12821"/>
            </a:avLst>
          </a:prstGeom>
          <a:solidFill>
            <a:srgbClr val="2B1A12"/>
          </a:solidFill>
          <a:ln w="12700">
            <a:solidFill>
              <a:srgbClr val="2B1A12"/>
            </a:solidFill>
            <a:prstDash val="solid"/>
          </a:ln>
        </p:spPr>
      </p:sp>
      <p:sp>
        <p:nvSpPr>
          <p:cNvPr id="9" name="Text 7"/>
          <p:cNvSpPr txBox="1"/>
          <p:nvPr/>
        </p:nvSpPr>
        <p:spPr>
          <a:xfrm>
            <a:off x="2359152"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143,225</a:t>
            </a:r>
            <a:endParaRPr lang="en-US" sz="2000" dirty="0"/>
          </a:p>
        </p:txBody>
      </p:sp>
      <p:sp>
        <p:nvSpPr>
          <p:cNvPr id="10" name="Text 8"/>
          <p:cNvSpPr txBox="1"/>
          <p:nvPr/>
        </p:nvSpPr>
        <p:spPr>
          <a:xfrm>
            <a:off x="2359152"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TOTAL UNITS SOLD</a:t>
            </a:r>
            <a:endParaRPr lang="en-US" sz="850" dirty="0"/>
          </a:p>
        </p:txBody>
      </p:sp>
      <p:sp>
        <p:nvSpPr>
          <p:cNvPr id="11" name="Shape 9"/>
          <p:cNvSpPr/>
          <p:nvPr/>
        </p:nvSpPr>
        <p:spPr>
          <a:xfrm>
            <a:off x="4261104" y="777240"/>
            <a:ext cx="1764792" cy="713232"/>
          </a:xfrm>
          <a:prstGeom prst="roundRect">
            <a:avLst>
              <a:gd name="adj" fmla="val 12821"/>
            </a:avLst>
          </a:prstGeom>
          <a:solidFill>
            <a:srgbClr val="2B1A12"/>
          </a:solidFill>
          <a:ln w="12700">
            <a:solidFill>
              <a:srgbClr val="2B1A12"/>
            </a:solidFill>
            <a:prstDash val="solid"/>
          </a:ln>
        </p:spPr>
      </p:sp>
      <p:sp>
        <p:nvSpPr>
          <p:cNvPr id="12" name="Text 10"/>
          <p:cNvSpPr txBox="1"/>
          <p:nvPr/>
        </p:nvSpPr>
        <p:spPr>
          <a:xfrm>
            <a:off x="4261104"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100,000</a:t>
            </a:r>
            <a:endParaRPr lang="en-US" sz="2000" dirty="0"/>
          </a:p>
        </p:txBody>
      </p:sp>
      <p:sp>
        <p:nvSpPr>
          <p:cNvPr id="13" name="Text 11"/>
          <p:cNvSpPr txBox="1"/>
          <p:nvPr/>
        </p:nvSpPr>
        <p:spPr>
          <a:xfrm>
            <a:off x="4261104"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TOTAL TRANSACTIONS</a:t>
            </a:r>
            <a:endParaRPr lang="en-US" sz="850" dirty="0"/>
          </a:p>
        </p:txBody>
      </p:sp>
      <p:sp>
        <p:nvSpPr>
          <p:cNvPr id="14" name="Shape 12"/>
          <p:cNvSpPr/>
          <p:nvPr/>
        </p:nvSpPr>
        <p:spPr>
          <a:xfrm>
            <a:off x="6163056" y="777240"/>
            <a:ext cx="1764792" cy="713232"/>
          </a:xfrm>
          <a:prstGeom prst="roundRect">
            <a:avLst>
              <a:gd name="adj" fmla="val 12821"/>
            </a:avLst>
          </a:prstGeom>
          <a:solidFill>
            <a:srgbClr val="2B1A12"/>
          </a:solidFill>
          <a:ln w="12700">
            <a:solidFill>
              <a:srgbClr val="2B1A12"/>
            </a:solidFill>
            <a:prstDash val="solid"/>
          </a:ln>
        </p:spPr>
      </p:sp>
      <p:sp>
        <p:nvSpPr>
          <p:cNvPr id="15" name="Text 13"/>
          <p:cNvSpPr txBox="1"/>
          <p:nvPr/>
        </p:nvSpPr>
        <p:spPr>
          <a:xfrm>
            <a:off x="6163056"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80</a:t>
            </a:r>
            <a:endParaRPr lang="en-US" sz="2000" dirty="0"/>
          </a:p>
        </p:txBody>
      </p:sp>
      <p:sp>
        <p:nvSpPr>
          <p:cNvPr id="16" name="Text 14"/>
          <p:cNvSpPr txBox="1"/>
          <p:nvPr/>
        </p:nvSpPr>
        <p:spPr>
          <a:xfrm>
            <a:off x="6163056"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NUMBER OF PRODUCTS</a:t>
            </a:r>
            <a:endParaRPr lang="en-US" sz="850" dirty="0"/>
          </a:p>
        </p:txBody>
      </p:sp>
      <p:sp>
        <p:nvSpPr>
          <p:cNvPr id="17" name="Shape 15"/>
          <p:cNvSpPr/>
          <p:nvPr/>
        </p:nvSpPr>
        <p:spPr>
          <a:xfrm>
            <a:off x="8065008" y="777240"/>
            <a:ext cx="1764792" cy="713232"/>
          </a:xfrm>
          <a:prstGeom prst="roundRect">
            <a:avLst>
              <a:gd name="adj" fmla="val 12821"/>
            </a:avLst>
          </a:prstGeom>
          <a:solidFill>
            <a:srgbClr val="2B1A12"/>
          </a:solidFill>
          <a:ln w="12700">
            <a:solidFill>
              <a:srgbClr val="2B1A12"/>
            </a:solidFill>
            <a:prstDash val="solid"/>
          </a:ln>
        </p:spPr>
      </p:sp>
      <p:sp>
        <p:nvSpPr>
          <p:cNvPr id="18" name="Text 16"/>
          <p:cNvSpPr txBox="1"/>
          <p:nvPr/>
        </p:nvSpPr>
        <p:spPr>
          <a:xfrm>
            <a:off x="8065008"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8065008"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STORE LOCATIONS</a:t>
            </a:r>
            <a:endParaRPr lang="en-US" sz="850" dirty="0"/>
          </a:p>
        </p:txBody>
      </p:sp>
      <p:sp>
        <p:nvSpPr>
          <p:cNvPr id="20" name="Shape 18"/>
          <p:cNvSpPr/>
          <p:nvPr/>
        </p:nvSpPr>
        <p:spPr>
          <a:xfrm>
            <a:off x="9966960" y="777240"/>
            <a:ext cx="1764792" cy="713232"/>
          </a:xfrm>
          <a:prstGeom prst="roundRect">
            <a:avLst>
              <a:gd name="adj" fmla="val 12821"/>
            </a:avLst>
          </a:prstGeom>
          <a:solidFill>
            <a:srgbClr val="2B1A12"/>
          </a:solidFill>
          <a:ln w="12700">
            <a:solidFill>
              <a:srgbClr val="2B1A12"/>
            </a:solidFill>
            <a:prstDash val="solid"/>
          </a:ln>
        </p:spPr>
      </p:sp>
      <p:sp>
        <p:nvSpPr>
          <p:cNvPr id="21" name="Text 19"/>
          <p:cNvSpPr txBox="1"/>
          <p:nvPr/>
        </p:nvSpPr>
        <p:spPr>
          <a:xfrm>
            <a:off x="9966960" y="804672"/>
            <a:ext cx="1764792"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4.67</a:t>
            </a:r>
            <a:endParaRPr lang="en-US" sz="2000" dirty="0"/>
          </a:p>
        </p:txBody>
      </p:sp>
      <p:sp>
        <p:nvSpPr>
          <p:cNvPr id="22" name="Text 20"/>
          <p:cNvSpPr txBox="1"/>
          <p:nvPr/>
        </p:nvSpPr>
        <p:spPr>
          <a:xfrm>
            <a:off x="9966960" y="1216152"/>
            <a:ext cx="1764792" cy="228600"/>
          </a:xfrm>
          <a:prstGeom prst="rect">
            <a:avLst/>
          </a:prstGeom>
          <a:noFill/>
          <a:ln/>
        </p:spPr>
        <p:txBody>
          <a:bodyPr wrap="square" lIns="0" tIns="0" rIns="0" bIns="0" rtlCol="0" anchor="ctr"/>
          <a:lstStyle/>
          <a:p>
            <a:pPr algn="ctr" indent="0" marL="0">
              <a:buNone/>
            </a:pPr>
            <a:r>
              <a:rPr lang="en-US" sz="850" b="1" dirty="0">
                <a:solidFill>
                  <a:srgbClr val="C4956A"/>
                </a:solidFill>
                <a:latin typeface="Calibri" pitchFamily="34" charset="0"/>
                <a:ea typeface="Calibri" pitchFamily="34" charset="-122"/>
                <a:cs typeface="Calibri" pitchFamily="34" charset="-120"/>
              </a:rPr>
              <a:t>AVG TRANSACTION VALUE</a:t>
            </a:r>
            <a:endParaRPr lang="en-US" sz="850" dirty="0"/>
          </a:p>
        </p:txBody>
      </p:sp>
      <p:sp>
        <p:nvSpPr>
          <p:cNvPr id="23" name="Shape 21"/>
          <p:cNvSpPr/>
          <p:nvPr/>
        </p:nvSpPr>
        <p:spPr>
          <a:xfrm>
            <a:off x="457200" y="1581912"/>
            <a:ext cx="3697224" cy="1572768"/>
          </a:xfrm>
          <a:prstGeom prst="rect">
            <a:avLst/>
          </a:prstGeom>
          <a:solidFill>
            <a:srgbClr val="FFFFFF"/>
          </a:solidFill>
          <a:ln w="9525">
            <a:solidFill>
              <a:srgbClr val="D9CBB8"/>
            </a:solidFill>
            <a:prstDash val="solid"/>
          </a:ln>
        </p:spPr>
      </p:sp>
      <p:graphicFrame>
        <p:nvGraphicFramePr>
          <p:cNvPr id="24" name="Chart 0" descr=""/>
          <p:cNvGraphicFramePr/>
          <p:nvPr/>
        </p:nvGraphicFramePr>
        <p:xfrm>
          <a:off x="484632" y="1609344"/>
          <a:ext cx="3642360" cy="1517904"/>
        </p:xfrm>
        <a:graphic xmlns:a="http://schemas.openxmlformats.org/drawingml/2006/main">
          <a:graphicData uri="http://schemas.openxmlformats.org/drawingml/2006/chart">
            <c:chart xmlns:c="http://schemas.openxmlformats.org/drawingml/2006/chart" r:id="rId1"/>
          </a:graphicData>
        </a:graphic>
      </p:graphicFrame>
      <p:sp>
        <p:nvSpPr>
          <p:cNvPr id="25" name="Shape 22"/>
          <p:cNvSpPr/>
          <p:nvPr/>
        </p:nvSpPr>
        <p:spPr>
          <a:xfrm>
            <a:off x="4245864" y="1581912"/>
            <a:ext cx="3697224" cy="1572768"/>
          </a:xfrm>
          <a:prstGeom prst="rect">
            <a:avLst/>
          </a:prstGeom>
          <a:solidFill>
            <a:srgbClr val="FFFFFF"/>
          </a:solidFill>
          <a:ln w="9525">
            <a:solidFill>
              <a:srgbClr val="D9CBB8"/>
            </a:solidFill>
            <a:prstDash val="solid"/>
          </a:ln>
        </p:spPr>
      </p:sp>
      <p:graphicFrame>
        <p:nvGraphicFramePr>
          <p:cNvPr id="26" name="Chart 1" descr=""/>
          <p:cNvGraphicFramePr/>
          <p:nvPr/>
        </p:nvGraphicFramePr>
        <p:xfrm>
          <a:off x="4273296" y="1609344"/>
          <a:ext cx="3642360" cy="1517904"/>
        </p:xfrm>
        <a:graphic xmlns:a="http://schemas.openxmlformats.org/drawingml/2006/main">
          <a:graphicData uri="http://schemas.openxmlformats.org/drawingml/2006/chart">
            <c:chart xmlns:c="http://schemas.openxmlformats.org/drawingml/2006/chart" r:id="rId2"/>
          </a:graphicData>
        </a:graphic>
      </p:graphicFrame>
      <p:sp>
        <p:nvSpPr>
          <p:cNvPr id="27" name="Shape 23"/>
          <p:cNvSpPr/>
          <p:nvPr/>
        </p:nvSpPr>
        <p:spPr>
          <a:xfrm>
            <a:off x="8034528" y="1581912"/>
            <a:ext cx="3697224" cy="1572768"/>
          </a:xfrm>
          <a:prstGeom prst="rect">
            <a:avLst/>
          </a:prstGeom>
          <a:solidFill>
            <a:srgbClr val="FFFFFF"/>
          </a:solidFill>
          <a:ln w="9525">
            <a:solidFill>
              <a:srgbClr val="D9CBB8"/>
            </a:solidFill>
            <a:prstDash val="solid"/>
          </a:ln>
        </p:spPr>
      </p:sp>
      <p:graphicFrame>
        <p:nvGraphicFramePr>
          <p:cNvPr id="28" name="Chart 2" descr=""/>
          <p:cNvGraphicFramePr/>
          <p:nvPr/>
        </p:nvGraphicFramePr>
        <p:xfrm>
          <a:off x="8061960" y="1609344"/>
          <a:ext cx="3642360" cy="1517904"/>
        </p:xfrm>
        <a:graphic xmlns:a="http://schemas.openxmlformats.org/drawingml/2006/main">
          <a:graphicData uri="http://schemas.openxmlformats.org/drawingml/2006/chart">
            <c:chart xmlns:c="http://schemas.openxmlformats.org/drawingml/2006/chart" r:id="rId3"/>
          </a:graphicData>
        </a:graphic>
      </p:graphicFrame>
      <p:sp>
        <p:nvSpPr>
          <p:cNvPr id="29" name="Shape 24"/>
          <p:cNvSpPr/>
          <p:nvPr/>
        </p:nvSpPr>
        <p:spPr>
          <a:xfrm>
            <a:off x="457200" y="3200400"/>
            <a:ext cx="3697224" cy="1572768"/>
          </a:xfrm>
          <a:prstGeom prst="rect">
            <a:avLst/>
          </a:prstGeom>
          <a:solidFill>
            <a:srgbClr val="FFFFFF"/>
          </a:solidFill>
          <a:ln w="9525">
            <a:solidFill>
              <a:srgbClr val="D9CBB8"/>
            </a:solidFill>
            <a:prstDash val="solid"/>
          </a:ln>
        </p:spPr>
      </p:sp>
      <p:graphicFrame>
        <p:nvGraphicFramePr>
          <p:cNvPr id="30" name="Chart 3" descr=""/>
          <p:cNvGraphicFramePr/>
          <p:nvPr/>
        </p:nvGraphicFramePr>
        <p:xfrm>
          <a:off x="484632" y="3227832"/>
          <a:ext cx="3642360" cy="1517904"/>
        </p:xfrm>
        <a:graphic xmlns:a="http://schemas.openxmlformats.org/drawingml/2006/main">
          <a:graphicData uri="http://schemas.openxmlformats.org/drawingml/2006/chart">
            <c:chart xmlns:c="http://schemas.openxmlformats.org/drawingml/2006/chart" r:id="rId4"/>
          </a:graphicData>
        </a:graphic>
      </p:graphicFrame>
      <p:sp>
        <p:nvSpPr>
          <p:cNvPr id="31" name="Shape 25"/>
          <p:cNvSpPr/>
          <p:nvPr/>
        </p:nvSpPr>
        <p:spPr>
          <a:xfrm>
            <a:off x="4245864" y="3200400"/>
            <a:ext cx="3697224" cy="1572768"/>
          </a:xfrm>
          <a:prstGeom prst="rect">
            <a:avLst/>
          </a:prstGeom>
          <a:solidFill>
            <a:srgbClr val="FFFFFF"/>
          </a:solidFill>
          <a:ln w="9525">
            <a:solidFill>
              <a:srgbClr val="D9CBB8"/>
            </a:solidFill>
            <a:prstDash val="solid"/>
          </a:ln>
        </p:spPr>
      </p:sp>
      <p:graphicFrame>
        <p:nvGraphicFramePr>
          <p:cNvPr id="32" name="Chart 4" descr=""/>
          <p:cNvGraphicFramePr/>
          <p:nvPr/>
        </p:nvGraphicFramePr>
        <p:xfrm>
          <a:off x="4273296" y="3227832"/>
          <a:ext cx="3642360" cy="1517904"/>
        </p:xfrm>
        <a:graphic xmlns:a="http://schemas.openxmlformats.org/drawingml/2006/main">
          <a:graphicData uri="http://schemas.openxmlformats.org/drawingml/2006/chart">
            <c:chart xmlns:c="http://schemas.openxmlformats.org/drawingml/2006/chart" r:id="rId5"/>
          </a:graphicData>
        </a:graphic>
      </p:graphicFrame>
      <p:sp>
        <p:nvSpPr>
          <p:cNvPr id="33" name="Shape 26"/>
          <p:cNvSpPr/>
          <p:nvPr/>
        </p:nvSpPr>
        <p:spPr>
          <a:xfrm>
            <a:off x="8034528" y="3200400"/>
            <a:ext cx="3697224" cy="1572768"/>
          </a:xfrm>
          <a:prstGeom prst="rect">
            <a:avLst/>
          </a:prstGeom>
          <a:solidFill>
            <a:srgbClr val="FFFFFF"/>
          </a:solidFill>
          <a:ln w="9525">
            <a:solidFill>
              <a:srgbClr val="D9CBB8"/>
            </a:solidFill>
            <a:prstDash val="solid"/>
          </a:ln>
        </p:spPr>
      </p:sp>
      <p:graphicFrame>
        <p:nvGraphicFramePr>
          <p:cNvPr id="34" name="Chart 5" descr=""/>
          <p:cNvGraphicFramePr/>
          <p:nvPr/>
        </p:nvGraphicFramePr>
        <p:xfrm>
          <a:off x="8061960" y="3227832"/>
          <a:ext cx="3642360" cy="1517904"/>
        </p:xfrm>
        <a:graphic xmlns:a="http://schemas.openxmlformats.org/drawingml/2006/main">
          <a:graphicData uri="http://schemas.openxmlformats.org/drawingml/2006/chart">
            <c:chart xmlns:c="http://schemas.openxmlformats.org/drawingml/2006/chart" r:id="rId6"/>
          </a:graphicData>
        </a:graphic>
      </p:graphicFrame>
      <p:sp>
        <p:nvSpPr>
          <p:cNvPr id="35" name="Shape 27"/>
          <p:cNvSpPr/>
          <p:nvPr/>
        </p:nvSpPr>
        <p:spPr>
          <a:xfrm>
            <a:off x="457200" y="4818888"/>
            <a:ext cx="3697224" cy="1572768"/>
          </a:xfrm>
          <a:prstGeom prst="rect">
            <a:avLst/>
          </a:prstGeom>
          <a:solidFill>
            <a:srgbClr val="FFFFFF"/>
          </a:solidFill>
          <a:ln w="9525">
            <a:solidFill>
              <a:srgbClr val="D9CBB8"/>
            </a:solidFill>
            <a:prstDash val="solid"/>
          </a:ln>
        </p:spPr>
      </p:sp>
      <p:graphicFrame>
        <p:nvGraphicFramePr>
          <p:cNvPr id="36" name="Chart 6" descr=""/>
          <p:cNvGraphicFramePr/>
          <p:nvPr/>
        </p:nvGraphicFramePr>
        <p:xfrm>
          <a:off x="484632" y="4846320"/>
          <a:ext cx="3642360" cy="1517904"/>
        </p:xfrm>
        <a:graphic xmlns:a="http://schemas.openxmlformats.org/drawingml/2006/main">
          <a:graphicData uri="http://schemas.openxmlformats.org/drawingml/2006/chart">
            <c:chart xmlns:c="http://schemas.openxmlformats.org/drawingml/2006/chart" r:id="rId7"/>
          </a:graphicData>
        </a:graphic>
      </p:graphicFrame>
      <p:sp>
        <p:nvSpPr>
          <p:cNvPr id="37" name="Shape 28"/>
          <p:cNvSpPr/>
          <p:nvPr/>
        </p:nvSpPr>
        <p:spPr>
          <a:xfrm>
            <a:off x="4245864" y="4818888"/>
            <a:ext cx="3697224" cy="1572768"/>
          </a:xfrm>
          <a:prstGeom prst="rect">
            <a:avLst/>
          </a:prstGeom>
          <a:solidFill>
            <a:srgbClr val="FFFFFF"/>
          </a:solidFill>
          <a:ln w="9525">
            <a:solidFill>
              <a:srgbClr val="D9CBB8"/>
            </a:solidFill>
            <a:prstDash val="solid"/>
          </a:ln>
        </p:spPr>
      </p:sp>
      <p:graphicFrame>
        <p:nvGraphicFramePr>
          <p:cNvPr id="38" name="Chart 7" descr=""/>
          <p:cNvGraphicFramePr/>
          <p:nvPr/>
        </p:nvGraphicFramePr>
        <p:xfrm>
          <a:off x="4273296" y="4846320"/>
          <a:ext cx="3642360" cy="1517904"/>
        </p:xfrm>
        <a:graphic xmlns:a="http://schemas.openxmlformats.org/drawingml/2006/main">
          <a:graphicData uri="http://schemas.openxmlformats.org/drawingml/2006/chart">
            <c:chart xmlns:c="http://schemas.openxmlformats.org/drawingml/2006/chart" r:id="rId8"/>
          </a:graphicData>
        </a:graphic>
      </p:graphicFrame>
      <p:sp>
        <p:nvSpPr>
          <p:cNvPr id="39" name="Shape 29"/>
          <p:cNvSpPr/>
          <p:nvPr/>
        </p:nvSpPr>
        <p:spPr>
          <a:xfrm>
            <a:off x="8034528" y="4818888"/>
            <a:ext cx="3697224" cy="1572768"/>
          </a:xfrm>
          <a:prstGeom prst="rect">
            <a:avLst/>
          </a:prstGeom>
          <a:solidFill>
            <a:srgbClr val="FFFFFF"/>
          </a:solidFill>
          <a:ln w="9525">
            <a:solidFill>
              <a:srgbClr val="D9CBB8"/>
            </a:solidFill>
            <a:prstDash val="solid"/>
          </a:ln>
        </p:spPr>
      </p:sp>
      <p:graphicFrame>
        <p:nvGraphicFramePr>
          <p:cNvPr id="40" name="Chart 8" descr=""/>
          <p:cNvGraphicFramePr/>
          <p:nvPr/>
        </p:nvGraphicFramePr>
        <p:xfrm>
          <a:off x="8061960" y="4846320"/>
          <a:ext cx="3642360" cy="1517904"/>
        </p:xfrm>
        <a:graphic xmlns:a="http://schemas.openxmlformats.org/drawingml/2006/main">
          <a:graphicData uri="http://schemas.openxmlformats.org/drawingml/2006/chart">
            <c:chart xmlns:c="http://schemas.openxmlformats.org/drawingml/2006/chart" r:id="rId9"/>
          </a:graphicData>
        </a:graphic>
      </p:graphicFrame>
      <p:sp>
        <p:nvSpPr>
          <p:cNvPr id="41" name="Text 30"/>
          <p:cNvSpPr txBox="1"/>
          <p:nvPr/>
        </p:nvSpPr>
        <p:spPr>
          <a:xfrm>
            <a:off x="6583680" y="6492240"/>
            <a:ext cx="4480560" cy="228600"/>
          </a:xfrm>
          <a:prstGeom prst="rect">
            <a:avLst/>
          </a:prstGeom>
          <a:noFill/>
          <a:ln/>
        </p:spPr>
        <p:txBody>
          <a:bodyPr wrap="square" lIns="0" tIns="0" rIns="0" bIns="0" rtlCol="0" anchor="ctr"/>
          <a:lstStyle/>
          <a:p>
            <a:pPr algn="r" indent="0" marL="0">
              <a:buNone/>
            </a:pPr>
            <a:r>
              <a:rPr lang="en-US" sz="900" i="1" dirty="0">
                <a:solidFill>
                  <a:srgbClr val="6B5D52"/>
                </a:solidFill>
                <a:latin typeface="Calibri" pitchFamily="34" charset="0"/>
                <a:ea typeface="Calibri" pitchFamily="34" charset="-122"/>
                <a:cs typeface="Calibri" pitchFamily="34" charset="-120"/>
              </a:rPr>
              <a:t>* May 2023 covers 1-19 May only. Revenue in the data has no stated currency.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rgbClr val="2B1A12"/>
                </a:solidFill>
                <a:latin typeface="Cambria" pitchFamily="34" charset="0"/>
                <a:ea typeface="Cambria" pitchFamily="34" charset="-122"/>
                <a:cs typeface="Cambria" pitchFamily="34" charset="-120"/>
              </a:rPr>
              <a:t>Summary of Insights</a:t>
            </a:r>
            <a:endParaRPr lang="en-US" sz="30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14</a:t>
            </a:r>
            <a:endParaRPr lang="en-US" sz="900" dirty="0"/>
          </a:p>
        </p:txBody>
      </p:sp>
      <p:sp>
        <p:nvSpPr>
          <p:cNvPr id="5" name="Shape 3"/>
          <p:cNvSpPr/>
          <p:nvPr/>
        </p:nvSpPr>
        <p:spPr>
          <a:xfrm>
            <a:off x="457200" y="1097280"/>
            <a:ext cx="5550408" cy="1097280"/>
          </a:xfrm>
          <a:prstGeom prst="roundRect">
            <a:avLst>
              <a:gd name="adj" fmla="val 8333"/>
            </a:avLst>
          </a:prstGeom>
          <a:solidFill>
            <a:srgbClr val="F5EDE0"/>
          </a:solidFill>
          <a:ln w="12700">
            <a:solidFill>
              <a:srgbClr val="F5EDE0"/>
            </a:solidFill>
            <a:prstDash val="solid"/>
          </a:ln>
        </p:spPr>
      </p:sp>
      <p:sp>
        <p:nvSpPr>
          <p:cNvPr id="6" name="Shape 4"/>
          <p:cNvSpPr/>
          <p:nvPr/>
        </p:nvSpPr>
        <p:spPr>
          <a:xfrm>
            <a:off x="640080" y="1371600"/>
            <a:ext cx="548640" cy="548640"/>
          </a:xfrm>
          <a:prstGeom prst="ellipse">
            <a:avLst/>
          </a:prstGeom>
          <a:solidFill>
            <a:srgbClr val="6F4E37"/>
          </a:solidFill>
          <a:ln w="12700">
            <a:solidFill>
              <a:srgbClr val="6F4E37"/>
            </a:solidFill>
            <a:prstDash val="solid"/>
          </a:ln>
        </p:spPr>
      </p:sp>
      <p:pic>
        <p:nvPicPr>
          <p:cNvPr id="7" name="Image 0" descr="preencoded.png">    </p:cNvPr>
          <p:cNvPicPr>
            <a:picLocks noChangeAspect="1"/>
          </p:cNvPicPr>
          <p:nvPr/>
        </p:nvPicPr>
        <p:blipFill>
          <a:blip r:embed="rId1"/>
          <a:stretch>
            <a:fillRect/>
          </a:stretch>
        </p:blipFill>
        <p:spPr>
          <a:xfrm>
            <a:off x="795528" y="1527048"/>
            <a:ext cx="237744" cy="237744"/>
          </a:xfrm>
          <a:prstGeom prst="rect">
            <a:avLst/>
          </a:prstGeom>
        </p:spPr>
      </p:pic>
      <p:sp>
        <p:nvSpPr>
          <p:cNvPr id="8" name="Text 5"/>
          <p:cNvSpPr txBox="1"/>
          <p:nvPr/>
        </p:nvSpPr>
        <p:spPr>
          <a:xfrm>
            <a:off x="1371600" y="1188720"/>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Main sales trend</a:t>
            </a:r>
            <a:endParaRPr lang="en-US" sz="1350" dirty="0"/>
          </a:p>
        </p:txBody>
      </p:sp>
      <p:sp>
        <p:nvSpPr>
          <p:cNvPr id="9" name="Text 6"/>
          <p:cNvSpPr txBox="1"/>
          <p:nvPr/>
        </p:nvSpPr>
        <p:spPr>
          <a:xfrm>
            <a:off x="1371600" y="1481328"/>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Revenue rose from 76,145 in February to 118,941 in April. Average daily revenue grew every month, reaching 4,787 in May.</a:t>
            </a:r>
            <a:endParaRPr lang="en-US" sz="1250" dirty="0"/>
          </a:p>
        </p:txBody>
      </p:sp>
      <p:sp>
        <p:nvSpPr>
          <p:cNvPr id="10" name="Shape 7"/>
          <p:cNvSpPr/>
          <p:nvPr/>
        </p:nvSpPr>
        <p:spPr>
          <a:xfrm>
            <a:off x="6181344" y="1097280"/>
            <a:ext cx="5550408" cy="1097280"/>
          </a:xfrm>
          <a:prstGeom prst="roundRect">
            <a:avLst>
              <a:gd name="adj" fmla="val 8333"/>
            </a:avLst>
          </a:prstGeom>
          <a:solidFill>
            <a:srgbClr val="F5EDE0"/>
          </a:solidFill>
          <a:ln w="12700">
            <a:solidFill>
              <a:srgbClr val="F5EDE0"/>
            </a:solidFill>
            <a:prstDash val="solid"/>
          </a:ln>
        </p:spPr>
      </p:sp>
      <p:sp>
        <p:nvSpPr>
          <p:cNvPr id="11" name="Shape 8"/>
          <p:cNvSpPr/>
          <p:nvPr/>
        </p:nvSpPr>
        <p:spPr>
          <a:xfrm>
            <a:off x="6364224" y="1371600"/>
            <a:ext cx="548640" cy="548640"/>
          </a:xfrm>
          <a:prstGeom prst="ellipse">
            <a:avLst/>
          </a:prstGeom>
          <a:solidFill>
            <a:srgbClr val="6F4E37"/>
          </a:solidFill>
          <a:ln w="12700">
            <a:solidFill>
              <a:srgbClr val="6F4E37"/>
            </a:solidFill>
            <a:prstDash val="solid"/>
          </a:ln>
        </p:spPr>
      </p:sp>
      <p:pic>
        <p:nvPicPr>
          <p:cNvPr id="12" name="Image 1" descr="preencoded.png">    </p:cNvPr>
          <p:cNvPicPr>
            <a:picLocks noChangeAspect="1"/>
          </p:cNvPicPr>
          <p:nvPr/>
        </p:nvPicPr>
        <p:blipFill>
          <a:blip r:embed="rId2"/>
          <a:stretch>
            <a:fillRect/>
          </a:stretch>
        </p:blipFill>
        <p:spPr>
          <a:xfrm>
            <a:off x="6519672" y="1527048"/>
            <a:ext cx="237744" cy="237744"/>
          </a:xfrm>
          <a:prstGeom prst="rect">
            <a:avLst/>
          </a:prstGeom>
        </p:spPr>
      </p:pic>
      <p:sp>
        <p:nvSpPr>
          <p:cNvPr id="13" name="Text 9"/>
          <p:cNvSpPr txBox="1"/>
          <p:nvPr/>
        </p:nvSpPr>
        <p:spPr>
          <a:xfrm>
            <a:off x="7095744" y="1188720"/>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Best-performing categories</a:t>
            </a:r>
            <a:endParaRPr lang="en-US" sz="1350" dirty="0"/>
          </a:p>
        </p:txBody>
      </p:sp>
      <p:sp>
        <p:nvSpPr>
          <p:cNvPr id="14" name="Text 10"/>
          <p:cNvSpPr txBox="1"/>
          <p:nvPr/>
        </p:nvSpPr>
        <p:spPr>
          <a:xfrm>
            <a:off x="7095744" y="1481328"/>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Coffee (38.4%) and Tea (28.2%) generate 66.6% of revenue and 74.0% of units sold.</a:t>
            </a:r>
            <a:endParaRPr lang="en-US" sz="1250" dirty="0"/>
          </a:p>
        </p:txBody>
      </p:sp>
      <p:sp>
        <p:nvSpPr>
          <p:cNvPr id="15" name="Shape 11"/>
          <p:cNvSpPr/>
          <p:nvPr/>
        </p:nvSpPr>
        <p:spPr>
          <a:xfrm>
            <a:off x="457200" y="2359152"/>
            <a:ext cx="5550408" cy="1097280"/>
          </a:xfrm>
          <a:prstGeom prst="roundRect">
            <a:avLst>
              <a:gd name="adj" fmla="val 8333"/>
            </a:avLst>
          </a:prstGeom>
          <a:solidFill>
            <a:srgbClr val="F5EDE0"/>
          </a:solidFill>
          <a:ln w="12700">
            <a:solidFill>
              <a:srgbClr val="F5EDE0"/>
            </a:solidFill>
            <a:prstDash val="solid"/>
          </a:ln>
        </p:spPr>
      </p:sp>
      <p:sp>
        <p:nvSpPr>
          <p:cNvPr id="16" name="Shape 12"/>
          <p:cNvSpPr/>
          <p:nvPr/>
        </p:nvSpPr>
        <p:spPr>
          <a:xfrm>
            <a:off x="640080" y="2633472"/>
            <a:ext cx="548640" cy="548640"/>
          </a:xfrm>
          <a:prstGeom prst="ellipse">
            <a:avLst/>
          </a:prstGeom>
          <a:solidFill>
            <a:srgbClr val="6F4E37"/>
          </a:solidFill>
          <a:ln w="12700">
            <a:solidFill>
              <a:srgbClr val="6F4E37"/>
            </a:solidFill>
            <a:prstDash val="solid"/>
          </a:ln>
        </p:spPr>
      </p:sp>
      <p:pic>
        <p:nvPicPr>
          <p:cNvPr id="17" name="Image 2" descr="preencoded.png">    </p:cNvPr>
          <p:cNvPicPr>
            <a:picLocks noChangeAspect="1"/>
          </p:cNvPicPr>
          <p:nvPr/>
        </p:nvPicPr>
        <p:blipFill>
          <a:blip r:embed="rId3"/>
          <a:stretch>
            <a:fillRect/>
          </a:stretch>
        </p:blipFill>
        <p:spPr>
          <a:xfrm>
            <a:off x="795528" y="2788920"/>
            <a:ext cx="237744" cy="237744"/>
          </a:xfrm>
          <a:prstGeom prst="rect">
            <a:avLst/>
          </a:prstGeom>
        </p:spPr>
      </p:pic>
      <p:sp>
        <p:nvSpPr>
          <p:cNvPr id="18" name="Text 13"/>
          <p:cNvSpPr txBox="1"/>
          <p:nvPr/>
        </p:nvSpPr>
        <p:spPr>
          <a:xfrm>
            <a:off x="1371600" y="2450592"/>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Best-performing products</a:t>
            </a:r>
            <a:endParaRPr lang="en-US" sz="1350" dirty="0"/>
          </a:p>
        </p:txBody>
      </p:sp>
      <p:sp>
        <p:nvSpPr>
          <p:cNvPr id="19" name="Text 14"/>
          <p:cNvSpPr txBox="1"/>
          <p:nvPr/>
        </p:nvSpPr>
        <p:spPr>
          <a:xfrm>
            <a:off x="1371600" y="2743200"/>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Barista Espresso is the top product type (60,677). The Top 10 types earn 78.9% of revenue.</a:t>
            </a:r>
            <a:endParaRPr lang="en-US" sz="1250" dirty="0"/>
          </a:p>
        </p:txBody>
      </p:sp>
      <p:sp>
        <p:nvSpPr>
          <p:cNvPr id="20" name="Shape 15"/>
          <p:cNvSpPr/>
          <p:nvPr/>
        </p:nvSpPr>
        <p:spPr>
          <a:xfrm>
            <a:off x="6181344" y="2359152"/>
            <a:ext cx="5550408" cy="1097280"/>
          </a:xfrm>
          <a:prstGeom prst="roundRect">
            <a:avLst>
              <a:gd name="adj" fmla="val 8333"/>
            </a:avLst>
          </a:prstGeom>
          <a:solidFill>
            <a:srgbClr val="F5EDE0"/>
          </a:solidFill>
          <a:ln w="12700">
            <a:solidFill>
              <a:srgbClr val="F5EDE0"/>
            </a:solidFill>
            <a:prstDash val="solid"/>
          </a:ln>
        </p:spPr>
      </p:sp>
      <p:sp>
        <p:nvSpPr>
          <p:cNvPr id="21" name="Shape 16"/>
          <p:cNvSpPr/>
          <p:nvPr/>
        </p:nvSpPr>
        <p:spPr>
          <a:xfrm>
            <a:off x="6364224" y="2633472"/>
            <a:ext cx="548640" cy="548640"/>
          </a:xfrm>
          <a:prstGeom prst="ellipse">
            <a:avLst/>
          </a:prstGeom>
          <a:solidFill>
            <a:srgbClr val="6F4E37"/>
          </a:solidFill>
          <a:ln w="12700">
            <a:solidFill>
              <a:srgbClr val="6F4E37"/>
            </a:solidFill>
            <a:prstDash val="solid"/>
          </a:ln>
        </p:spPr>
      </p:sp>
      <p:pic>
        <p:nvPicPr>
          <p:cNvPr id="22" name="Image 3" descr="preencoded.png">    </p:cNvPr>
          <p:cNvPicPr>
            <a:picLocks noChangeAspect="1"/>
          </p:cNvPicPr>
          <p:nvPr/>
        </p:nvPicPr>
        <p:blipFill>
          <a:blip r:embed="rId4"/>
          <a:stretch>
            <a:fillRect/>
          </a:stretch>
        </p:blipFill>
        <p:spPr>
          <a:xfrm>
            <a:off x="6519672" y="2788920"/>
            <a:ext cx="237744" cy="237744"/>
          </a:xfrm>
          <a:prstGeom prst="rect">
            <a:avLst/>
          </a:prstGeom>
        </p:spPr>
      </p:pic>
      <p:sp>
        <p:nvSpPr>
          <p:cNvPr id="23" name="Text 17"/>
          <p:cNvSpPr txBox="1"/>
          <p:nvPr/>
        </p:nvSpPr>
        <p:spPr>
          <a:xfrm>
            <a:off x="7095744" y="2450592"/>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Peak periods</a:t>
            </a:r>
            <a:endParaRPr lang="en-US" sz="1350" dirty="0"/>
          </a:p>
        </p:txBody>
      </p:sp>
      <p:sp>
        <p:nvSpPr>
          <p:cNvPr id="24" name="Text 18"/>
          <p:cNvSpPr txBox="1"/>
          <p:nvPr/>
        </p:nvSpPr>
        <p:spPr>
          <a:xfrm>
            <a:off x="7095744" y="2743200"/>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08:00 to 10:30 produces 36.5% of revenue, peaking at 10:30 (29,579). Mid Morning is the strongest time class (31.4%).</a:t>
            </a:r>
            <a:endParaRPr lang="en-US" sz="1250" dirty="0"/>
          </a:p>
        </p:txBody>
      </p:sp>
      <p:sp>
        <p:nvSpPr>
          <p:cNvPr id="25" name="Shape 19"/>
          <p:cNvSpPr/>
          <p:nvPr/>
        </p:nvSpPr>
        <p:spPr>
          <a:xfrm>
            <a:off x="457200" y="3621024"/>
            <a:ext cx="5550408" cy="1097280"/>
          </a:xfrm>
          <a:prstGeom prst="roundRect">
            <a:avLst>
              <a:gd name="adj" fmla="val 8333"/>
            </a:avLst>
          </a:prstGeom>
          <a:solidFill>
            <a:srgbClr val="F5EDE0"/>
          </a:solidFill>
          <a:ln w="12700">
            <a:solidFill>
              <a:srgbClr val="F5EDE0"/>
            </a:solidFill>
            <a:prstDash val="solid"/>
          </a:ln>
        </p:spPr>
      </p:sp>
      <p:sp>
        <p:nvSpPr>
          <p:cNvPr id="26" name="Shape 20"/>
          <p:cNvSpPr/>
          <p:nvPr/>
        </p:nvSpPr>
        <p:spPr>
          <a:xfrm>
            <a:off x="640080" y="3895344"/>
            <a:ext cx="548640" cy="548640"/>
          </a:xfrm>
          <a:prstGeom prst="ellipse">
            <a:avLst/>
          </a:prstGeom>
          <a:solidFill>
            <a:srgbClr val="6F4E37"/>
          </a:solidFill>
          <a:ln w="12700">
            <a:solidFill>
              <a:srgbClr val="6F4E37"/>
            </a:solidFill>
            <a:prstDash val="solid"/>
          </a:ln>
        </p:spPr>
      </p:sp>
      <p:pic>
        <p:nvPicPr>
          <p:cNvPr id="27" name="Image 4" descr="preencoded.png">    </p:cNvPr>
          <p:cNvPicPr>
            <a:picLocks noChangeAspect="1"/>
          </p:cNvPicPr>
          <p:nvPr/>
        </p:nvPicPr>
        <p:blipFill>
          <a:blip r:embed="rId5"/>
          <a:stretch>
            <a:fillRect/>
          </a:stretch>
        </p:blipFill>
        <p:spPr>
          <a:xfrm>
            <a:off x="795528" y="4050792"/>
            <a:ext cx="237744" cy="237744"/>
          </a:xfrm>
          <a:prstGeom prst="rect">
            <a:avLst/>
          </a:prstGeom>
        </p:spPr>
      </p:pic>
      <p:sp>
        <p:nvSpPr>
          <p:cNvPr id="28" name="Text 21"/>
          <p:cNvSpPr txBox="1"/>
          <p:nvPr/>
        </p:nvSpPr>
        <p:spPr>
          <a:xfrm>
            <a:off x="1371600" y="3712464"/>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Customer behaviour</a:t>
            </a:r>
            <a:endParaRPr lang="en-US" sz="1350" dirty="0"/>
          </a:p>
        </p:txBody>
      </p:sp>
      <p:sp>
        <p:nvSpPr>
          <p:cNvPr id="29" name="Text 22"/>
          <p:cNvSpPr txBox="1"/>
          <p:nvPr/>
        </p:nvSpPr>
        <p:spPr>
          <a:xfrm>
            <a:off x="1371600" y="4005072"/>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Average transaction value is 4.67 and 98% of transactions contain one or two units (1.43 units on average).</a:t>
            </a:r>
            <a:endParaRPr lang="en-US" sz="1250" dirty="0"/>
          </a:p>
        </p:txBody>
      </p:sp>
      <p:sp>
        <p:nvSpPr>
          <p:cNvPr id="30" name="Shape 23"/>
          <p:cNvSpPr/>
          <p:nvPr/>
        </p:nvSpPr>
        <p:spPr>
          <a:xfrm>
            <a:off x="6181344" y="3621024"/>
            <a:ext cx="5550408" cy="1097280"/>
          </a:xfrm>
          <a:prstGeom prst="roundRect">
            <a:avLst>
              <a:gd name="adj" fmla="val 8333"/>
            </a:avLst>
          </a:prstGeom>
          <a:solidFill>
            <a:srgbClr val="F5EDE0"/>
          </a:solidFill>
          <a:ln w="12700">
            <a:solidFill>
              <a:srgbClr val="F5EDE0"/>
            </a:solidFill>
            <a:prstDash val="solid"/>
          </a:ln>
        </p:spPr>
      </p:sp>
      <p:sp>
        <p:nvSpPr>
          <p:cNvPr id="31" name="Shape 24"/>
          <p:cNvSpPr/>
          <p:nvPr/>
        </p:nvSpPr>
        <p:spPr>
          <a:xfrm>
            <a:off x="6364224" y="3895344"/>
            <a:ext cx="548640" cy="548640"/>
          </a:xfrm>
          <a:prstGeom prst="ellipse">
            <a:avLst/>
          </a:prstGeom>
          <a:solidFill>
            <a:srgbClr val="6F4E37"/>
          </a:solidFill>
          <a:ln w="12700">
            <a:solidFill>
              <a:srgbClr val="6F4E37"/>
            </a:solidFill>
            <a:prstDash val="solid"/>
          </a:ln>
        </p:spPr>
      </p:sp>
      <p:pic>
        <p:nvPicPr>
          <p:cNvPr id="32" name="Image 5" descr="preencoded.png">    </p:cNvPr>
          <p:cNvPicPr>
            <a:picLocks noChangeAspect="1"/>
          </p:cNvPicPr>
          <p:nvPr/>
        </p:nvPicPr>
        <p:blipFill>
          <a:blip r:embed="rId6"/>
          <a:stretch>
            <a:fillRect/>
          </a:stretch>
        </p:blipFill>
        <p:spPr>
          <a:xfrm>
            <a:off x="6519672" y="4050792"/>
            <a:ext cx="237744" cy="237744"/>
          </a:xfrm>
          <a:prstGeom prst="rect">
            <a:avLst/>
          </a:prstGeom>
        </p:spPr>
      </p:pic>
      <p:sp>
        <p:nvSpPr>
          <p:cNvPr id="33" name="Text 25"/>
          <p:cNvSpPr txBox="1"/>
          <p:nvPr/>
        </p:nvSpPr>
        <p:spPr>
          <a:xfrm>
            <a:off x="7095744" y="3712464"/>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Revenue insights</a:t>
            </a:r>
            <a:endParaRPr lang="en-US" sz="1350" dirty="0"/>
          </a:p>
        </p:txBody>
      </p:sp>
      <p:sp>
        <p:nvSpPr>
          <p:cNvPr id="34" name="Text 26"/>
          <p:cNvSpPr txBox="1"/>
          <p:nvPr/>
        </p:nvSpPr>
        <p:spPr>
          <a:xfrm>
            <a:off x="7095744" y="4005072"/>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Revenue per unit ranges from 0.80 (Flavours) to 21.68 (Coffee beans), so volume does not equal revenue.</a:t>
            </a:r>
            <a:endParaRPr lang="en-US" sz="1250" dirty="0"/>
          </a:p>
        </p:txBody>
      </p:sp>
      <p:sp>
        <p:nvSpPr>
          <p:cNvPr id="35" name="Shape 27"/>
          <p:cNvSpPr/>
          <p:nvPr/>
        </p:nvSpPr>
        <p:spPr>
          <a:xfrm>
            <a:off x="457200" y="4882896"/>
            <a:ext cx="5550408" cy="1097280"/>
          </a:xfrm>
          <a:prstGeom prst="roundRect">
            <a:avLst>
              <a:gd name="adj" fmla="val 8333"/>
            </a:avLst>
          </a:prstGeom>
          <a:solidFill>
            <a:srgbClr val="F5EDE0"/>
          </a:solidFill>
          <a:ln w="12700">
            <a:solidFill>
              <a:srgbClr val="F5EDE0"/>
            </a:solidFill>
            <a:prstDash val="solid"/>
          </a:ln>
        </p:spPr>
      </p:sp>
      <p:sp>
        <p:nvSpPr>
          <p:cNvPr id="36" name="Shape 28"/>
          <p:cNvSpPr/>
          <p:nvPr/>
        </p:nvSpPr>
        <p:spPr>
          <a:xfrm>
            <a:off x="640080" y="5157216"/>
            <a:ext cx="548640" cy="548640"/>
          </a:xfrm>
          <a:prstGeom prst="ellipse">
            <a:avLst/>
          </a:prstGeom>
          <a:solidFill>
            <a:srgbClr val="6F4E37"/>
          </a:solidFill>
          <a:ln w="12700">
            <a:solidFill>
              <a:srgbClr val="6F4E37"/>
            </a:solidFill>
            <a:prstDash val="solid"/>
          </a:ln>
        </p:spPr>
      </p:sp>
      <p:pic>
        <p:nvPicPr>
          <p:cNvPr id="37" name="Image 6" descr="preencoded.png">    </p:cNvPr>
          <p:cNvPicPr>
            <a:picLocks noChangeAspect="1"/>
          </p:cNvPicPr>
          <p:nvPr/>
        </p:nvPicPr>
        <p:blipFill>
          <a:blip r:embed="rId7"/>
          <a:stretch>
            <a:fillRect/>
          </a:stretch>
        </p:blipFill>
        <p:spPr>
          <a:xfrm>
            <a:off x="795528" y="5312664"/>
            <a:ext cx="237744" cy="237744"/>
          </a:xfrm>
          <a:prstGeom prst="rect">
            <a:avLst/>
          </a:prstGeom>
        </p:spPr>
      </p:pic>
      <p:sp>
        <p:nvSpPr>
          <p:cNvPr id="38" name="Text 29"/>
          <p:cNvSpPr txBox="1"/>
          <p:nvPr/>
        </p:nvSpPr>
        <p:spPr>
          <a:xfrm>
            <a:off x="1371600" y="4974336"/>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Operational insights</a:t>
            </a:r>
            <a:endParaRPr lang="en-US" sz="1350" dirty="0"/>
          </a:p>
        </p:txBody>
      </p:sp>
      <p:sp>
        <p:nvSpPr>
          <p:cNvPr id="39" name="Text 30"/>
          <p:cNvSpPr txBox="1"/>
          <p:nvPr/>
        </p:nvSpPr>
        <p:spPr>
          <a:xfrm>
            <a:off x="1371600" y="5266944"/>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Revenue halves after 11:00, is flat until 18:00, and is under 1,000 per interval after 20:00. Night is 4.5% of revenue.</a:t>
            </a:r>
            <a:endParaRPr lang="en-US" sz="1250" dirty="0"/>
          </a:p>
        </p:txBody>
      </p:sp>
      <p:sp>
        <p:nvSpPr>
          <p:cNvPr id="40" name="Shape 31"/>
          <p:cNvSpPr/>
          <p:nvPr/>
        </p:nvSpPr>
        <p:spPr>
          <a:xfrm>
            <a:off x="6181344" y="4882896"/>
            <a:ext cx="5550408" cy="1097280"/>
          </a:xfrm>
          <a:prstGeom prst="roundRect">
            <a:avLst>
              <a:gd name="adj" fmla="val 8333"/>
            </a:avLst>
          </a:prstGeom>
          <a:solidFill>
            <a:srgbClr val="F5EDE0"/>
          </a:solidFill>
          <a:ln w="12700">
            <a:solidFill>
              <a:srgbClr val="F5EDE0"/>
            </a:solidFill>
            <a:prstDash val="solid"/>
          </a:ln>
        </p:spPr>
      </p:sp>
      <p:sp>
        <p:nvSpPr>
          <p:cNvPr id="41" name="Shape 32"/>
          <p:cNvSpPr/>
          <p:nvPr/>
        </p:nvSpPr>
        <p:spPr>
          <a:xfrm>
            <a:off x="6364224" y="5157216"/>
            <a:ext cx="548640" cy="548640"/>
          </a:xfrm>
          <a:prstGeom prst="ellipse">
            <a:avLst/>
          </a:prstGeom>
          <a:solidFill>
            <a:srgbClr val="6F4E37"/>
          </a:solidFill>
          <a:ln w="12700">
            <a:solidFill>
              <a:srgbClr val="6F4E37"/>
            </a:solidFill>
            <a:prstDash val="solid"/>
          </a:ln>
        </p:spPr>
      </p:sp>
      <p:pic>
        <p:nvPicPr>
          <p:cNvPr id="42" name="Image 7" descr="preencoded.png">    </p:cNvPr>
          <p:cNvPicPr>
            <a:picLocks noChangeAspect="1"/>
          </p:cNvPicPr>
          <p:nvPr/>
        </p:nvPicPr>
        <p:blipFill>
          <a:blip r:embed="rId8"/>
          <a:stretch>
            <a:fillRect/>
          </a:stretch>
        </p:blipFill>
        <p:spPr>
          <a:xfrm>
            <a:off x="6519672" y="5312664"/>
            <a:ext cx="237744" cy="237744"/>
          </a:xfrm>
          <a:prstGeom prst="rect">
            <a:avLst/>
          </a:prstGeom>
        </p:spPr>
      </p:pic>
      <p:sp>
        <p:nvSpPr>
          <p:cNvPr id="43" name="Text 33"/>
          <p:cNvSpPr txBox="1"/>
          <p:nvPr/>
        </p:nvSpPr>
        <p:spPr>
          <a:xfrm>
            <a:off x="7095744" y="4974336"/>
            <a:ext cx="4453128" cy="274320"/>
          </a:xfrm>
          <a:prstGeom prst="rect">
            <a:avLst/>
          </a:prstGeom>
          <a:noFill/>
          <a:ln/>
        </p:spPr>
        <p:txBody>
          <a:bodyPr wrap="square" lIns="0" tIns="0" rIns="0" bIns="0" rtlCol="0" anchor="ctr"/>
          <a:lstStyle/>
          <a:p>
            <a:pPr indent="0" marL="0">
              <a:buNone/>
            </a:pPr>
            <a:r>
              <a:rPr lang="en-US" sz="1350" b="1" dirty="0">
                <a:solidFill>
                  <a:srgbClr val="6F4E37"/>
                </a:solidFill>
                <a:latin typeface="Cambria" pitchFamily="34" charset="0"/>
                <a:ea typeface="Cambria" pitchFamily="34" charset="-122"/>
                <a:cs typeface="Cambria" pitchFamily="34" charset="-120"/>
              </a:rPr>
              <a:t>Store performance</a:t>
            </a:r>
            <a:endParaRPr lang="en-US" sz="1350" dirty="0"/>
          </a:p>
        </p:txBody>
      </p:sp>
      <p:sp>
        <p:nvSpPr>
          <p:cNvPr id="44" name="Text 34"/>
          <p:cNvSpPr txBox="1"/>
          <p:nvPr/>
        </p:nvSpPr>
        <p:spPr>
          <a:xfrm>
            <a:off x="7095744" y="5266944"/>
            <a:ext cx="4453128" cy="658368"/>
          </a:xfrm>
          <a:prstGeom prst="rect">
            <a:avLst/>
          </a:prstGeom>
          <a:noFill/>
          <a:ln/>
        </p:spPr>
        <p:txBody>
          <a:bodyPr wrap="square" lIns="0" tIns="0" rIns="0" bIns="0" rtlCol="0" anchor="t"/>
          <a:lstStyle/>
          <a:p>
            <a:pPr indent="0" marL="0">
              <a:buNone/>
            </a:pPr>
            <a:r>
              <a:rPr lang="en-US" sz="1250" dirty="0">
                <a:solidFill>
                  <a:srgbClr val="1A1A1A"/>
                </a:solidFill>
                <a:latin typeface="Calibri" pitchFamily="34" charset="0"/>
                <a:ea typeface="Calibri" pitchFamily="34" charset="-122"/>
                <a:cs typeface="Calibri" pitchFamily="34" charset="-120"/>
              </a:rPr>
              <a:t>The three stores are within 4.4% of each other. Hell's Kitchen leads in every month; Lower Manhattan has the fewest transactions.</a:t>
            </a:r>
            <a:endParaRPr lang="en-US" sz="1250" dirty="0"/>
          </a:p>
        </p:txBody>
      </p:sp>
      <p:sp>
        <p:nvSpPr>
          <p:cNvPr id="45" name="Text 35"/>
          <p:cNvSpPr txBox="1"/>
          <p:nvPr/>
        </p:nvSpPr>
        <p:spPr>
          <a:xfrm>
            <a:off x="457200" y="6199632"/>
            <a:ext cx="11247120" cy="228600"/>
          </a:xfrm>
          <a:prstGeom prst="rect">
            <a:avLst/>
          </a:prstGeom>
          <a:noFill/>
          <a:ln/>
        </p:spPr>
        <p:txBody>
          <a:bodyPr wrap="square" lIns="0" tIns="0" rIns="0" bIns="0" rtlCol="0" anchor="ctr"/>
          <a:lstStyle/>
          <a:p>
            <a:pPr indent="0" marL="0">
              <a:buNone/>
            </a:pPr>
            <a:r>
              <a:rPr lang="en-US" sz="1000" i="1" dirty="0">
                <a:solidFill>
                  <a:srgbClr val="6B5D52"/>
                </a:solidFill>
                <a:latin typeface="Calibri" pitchFamily="34" charset="0"/>
                <a:ea typeface="Calibri" pitchFamily="34" charset="-122"/>
                <a:cs typeface="Calibri" pitchFamily="34" charset="-120"/>
              </a:rPr>
              <a:t>Data covers 1 January to 19 May 2023 (139 days); June is not included and May is a partial month.</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11247120" cy="685800"/>
          </a:xfrm>
          <a:prstGeom prst="rect">
            <a:avLst/>
          </a:prstGeom>
          <a:noFill/>
          <a:ln/>
        </p:spPr>
        <p:txBody>
          <a:bodyPr wrap="square" lIns="0" tIns="0" rIns="0" bIns="0" rtlCol="0" anchor="ctr"/>
          <a:lstStyle/>
          <a:p>
            <a:pPr indent="0" marL="0">
              <a:buNone/>
            </a:pPr>
            <a:r>
              <a:rPr lang="en-US" sz="3000" b="1" dirty="0">
                <a:solidFill>
                  <a:srgbClr val="2B1A12"/>
                </a:solidFill>
                <a:latin typeface="Cambria" pitchFamily="34" charset="0"/>
                <a:ea typeface="Cambria" pitchFamily="34" charset="-122"/>
                <a:cs typeface="Cambria" pitchFamily="34" charset="-120"/>
              </a:rPr>
              <a:t>Recommendations</a:t>
            </a:r>
            <a:endParaRPr lang="en-US" sz="3000" dirty="0"/>
          </a:p>
        </p:txBody>
      </p:sp>
      <p:sp>
        <p:nvSpPr>
          <p:cNvPr id="3" name="Text 1"/>
          <p:cNvSpPr txBox="1"/>
          <p:nvPr/>
        </p:nvSpPr>
        <p:spPr>
          <a:xfrm>
            <a:off x="457200" y="6492240"/>
            <a:ext cx="6400800" cy="228600"/>
          </a:xfrm>
          <a:prstGeom prst="rect">
            <a:avLst/>
          </a:prstGeom>
          <a:noFill/>
          <a:ln/>
        </p:spPr>
        <p:txBody>
          <a:bodyPr wrap="square" lIns="0" tIns="0" rIns="0" bIns="0" rtlCol="0" anchor="ctr"/>
          <a:lstStyle/>
          <a:p>
            <a:pPr indent="0" marL="0">
              <a:buNone/>
            </a:pPr>
            <a:r>
              <a:rPr lang="en-US" sz="900" dirty="0">
                <a:solidFill>
                  <a:srgbClr val="6B5D52"/>
                </a:solidFill>
                <a:latin typeface="Calibri" pitchFamily="34" charset="0"/>
                <a:ea typeface="Calibri" pitchFamily="34" charset="-122"/>
                <a:cs typeface="Calibri" pitchFamily="34" charset="-120"/>
              </a:rPr>
              <a:t>Bright Coffee Shop Data Analysis  |  Ethaba Mhlongo</a:t>
            </a:r>
            <a:endParaRPr lang="en-US" sz="900" dirty="0"/>
          </a:p>
        </p:txBody>
      </p:sp>
      <p:sp>
        <p:nvSpPr>
          <p:cNvPr id="4" name="Text 2"/>
          <p:cNvSpPr txBox="1"/>
          <p:nvPr/>
        </p:nvSpPr>
        <p:spPr>
          <a:xfrm>
            <a:off x="11091672" y="6492240"/>
            <a:ext cx="640080" cy="228600"/>
          </a:xfrm>
          <a:prstGeom prst="rect">
            <a:avLst/>
          </a:prstGeom>
          <a:noFill/>
          <a:ln/>
        </p:spPr>
        <p:txBody>
          <a:bodyPr wrap="square" lIns="0" tIns="0" rIns="0" bIns="0" rtlCol="0" anchor="ctr"/>
          <a:lstStyle/>
          <a:p>
            <a:pPr algn="r" indent="0" marL="0">
              <a:buNone/>
            </a:pPr>
            <a:r>
              <a:rPr lang="en-US" sz="900" dirty="0">
                <a:solidFill>
                  <a:srgbClr val="6B5D52"/>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457200" y="1188720"/>
            <a:ext cx="3611880" cy="2468880"/>
          </a:xfrm>
          <a:prstGeom prst="roundRect">
            <a:avLst>
              <a:gd name="adj" fmla="val 3704"/>
            </a:avLst>
          </a:prstGeom>
          <a:solidFill>
            <a:srgbClr val="F5EDE0"/>
          </a:solidFill>
          <a:ln w="12700">
            <a:solidFill>
              <a:srgbClr val="F5EDE0"/>
            </a:solidFill>
            <a:prstDash val="solid"/>
          </a:ln>
        </p:spPr>
      </p:sp>
      <p:sp>
        <p:nvSpPr>
          <p:cNvPr id="6" name="Shape 4"/>
          <p:cNvSpPr/>
          <p:nvPr/>
        </p:nvSpPr>
        <p:spPr>
          <a:xfrm>
            <a:off x="685800" y="1417320"/>
            <a:ext cx="457200" cy="457200"/>
          </a:xfrm>
          <a:prstGeom prst="ellipse">
            <a:avLst/>
          </a:prstGeom>
          <a:solidFill>
            <a:srgbClr val="6F4E37"/>
          </a:solidFill>
          <a:ln w="12700">
            <a:solidFill>
              <a:srgbClr val="6F4E37"/>
            </a:solidFill>
            <a:prstDash val="solid"/>
          </a:ln>
        </p:spPr>
      </p:sp>
      <p:sp>
        <p:nvSpPr>
          <p:cNvPr id="7" name="Text 5"/>
          <p:cNvSpPr txBox="1"/>
          <p:nvPr/>
        </p:nvSpPr>
        <p:spPr>
          <a:xfrm>
            <a:off x="68580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325880" y="137160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Protect and promote top performers</a:t>
            </a:r>
            <a:endParaRPr lang="en-US" sz="1400" dirty="0"/>
          </a:p>
        </p:txBody>
      </p:sp>
      <p:sp>
        <p:nvSpPr>
          <p:cNvPr id="9" name="Text 7"/>
          <p:cNvSpPr txBox="1"/>
          <p:nvPr/>
        </p:nvSpPr>
        <p:spPr>
          <a:xfrm>
            <a:off x="685800" y="205740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Keep Coffee and Tea lines consistently stocked and feature Barista Espresso, Brewed Chai tea and Hot chocolate.</a:t>
            </a:r>
            <a:endParaRPr lang="en-US" sz="1400" dirty="0"/>
          </a:p>
        </p:txBody>
      </p:sp>
      <p:sp>
        <p:nvSpPr>
          <p:cNvPr id="10" name="Text 8"/>
          <p:cNvSpPr txBox="1"/>
          <p:nvPr/>
        </p:nvSpPr>
        <p:spPr>
          <a:xfrm>
            <a:off x="685800" y="310896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Coffee and Tea = 66.6% of revenue</a:t>
            </a:r>
            <a:endParaRPr lang="en-US" sz="1050" dirty="0"/>
          </a:p>
        </p:txBody>
      </p:sp>
      <p:sp>
        <p:nvSpPr>
          <p:cNvPr id="11" name="Shape 9"/>
          <p:cNvSpPr/>
          <p:nvPr/>
        </p:nvSpPr>
        <p:spPr>
          <a:xfrm>
            <a:off x="4288536" y="1188720"/>
            <a:ext cx="3611880" cy="2468880"/>
          </a:xfrm>
          <a:prstGeom prst="roundRect">
            <a:avLst>
              <a:gd name="adj" fmla="val 3704"/>
            </a:avLst>
          </a:prstGeom>
          <a:solidFill>
            <a:srgbClr val="F5EDE0"/>
          </a:solidFill>
          <a:ln w="12700">
            <a:solidFill>
              <a:srgbClr val="F5EDE0"/>
            </a:solidFill>
            <a:prstDash val="solid"/>
          </a:ln>
        </p:spPr>
      </p:sp>
      <p:sp>
        <p:nvSpPr>
          <p:cNvPr id="12" name="Shape 10"/>
          <p:cNvSpPr/>
          <p:nvPr/>
        </p:nvSpPr>
        <p:spPr>
          <a:xfrm>
            <a:off x="4517136" y="1417320"/>
            <a:ext cx="457200" cy="457200"/>
          </a:xfrm>
          <a:prstGeom prst="ellipse">
            <a:avLst/>
          </a:prstGeom>
          <a:solidFill>
            <a:srgbClr val="6F4E37"/>
          </a:solidFill>
          <a:ln w="12700">
            <a:solidFill>
              <a:srgbClr val="6F4E37"/>
            </a:solidFill>
            <a:prstDash val="solid"/>
          </a:ln>
        </p:spPr>
      </p:sp>
      <p:sp>
        <p:nvSpPr>
          <p:cNvPr id="13" name="Text 11"/>
          <p:cNvSpPr txBox="1"/>
          <p:nvPr/>
        </p:nvSpPr>
        <p:spPr>
          <a:xfrm>
            <a:off x="4517136"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txBox="1"/>
          <p:nvPr/>
        </p:nvSpPr>
        <p:spPr>
          <a:xfrm>
            <a:off x="5157216" y="137160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Focus on the morning peak</a:t>
            </a:r>
            <a:endParaRPr lang="en-US" sz="1400" dirty="0"/>
          </a:p>
        </p:txBody>
      </p:sp>
      <p:sp>
        <p:nvSpPr>
          <p:cNvPr id="15" name="Text 13"/>
          <p:cNvSpPr txBox="1"/>
          <p:nvPr/>
        </p:nvSpPr>
        <p:spPr>
          <a:xfrm>
            <a:off x="4517136" y="205740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Schedule staffing and preparation around 08:00 to 10:30, with full readiness from 07:00.</a:t>
            </a:r>
            <a:endParaRPr lang="en-US" sz="1400" dirty="0"/>
          </a:p>
        </p:txBody>
      </p:sp>
      <p:sp>
        <p:nvSpPr>
          <p:cNvPr id="16" name="Text 14"/>
          <p:cNvSpPr txBox="1"/>
          <p:nvPr/>
        </p:nvSpPr>
        <p:spPr>
          <a:xfrm>
            <a:off x="4517136" y="310896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36.5% of revenue in six intervals</a:t>
            </a:r>
            <a:endParaRPr lang="en-US" sz="1050" dirty="0"/>
          </a:p>
        </p:txBody>
      </p:sp>
      <p:sp>
        <p:nvSpPr>
          <p:cNvPr id="17" name="Shape 15"/>
          <p:cNvSpPr/>
          <p:nvPr/>
        </p:nvSpPr>
        <p:spPr>
          <a:xfrm>
            <a:off x="8119872" y="1188720"/>
            <a:ext cx="3611880" cy="2468880"/>
          </a:xfrm>
          <a:prstGeom prst="roundRect">
            <a:avLst>
              <a:gd name="adj" fmla="val 3704"/>
            </a:avLst>
          </a:prstGeom>
          <a:solidFill>
            <a:srgbClr val="F5EDE0"/>
          </a:solidFill>
          <a:ln w="12700">
            <a:solidFill>
              <a:srgbClr val="F5EDE0"/>
            </a:solidFill>
            <a:prstDash val="solid"/>
          </a:ln>
        </p:spPr>
      </p:sp>
      <p:sp>
        <p:nvSpPr>
          <p:cNvPr id="18" name="Shape 16"/>
          <p:cNvSpPr/>
          <p:nvPr/>
        </p:nvSpPr>
        <p:spPr>
          <a:xfrm>
            <a:off x="8348472" y="1417320"/>
            <a:ext cx="457200" cy="457200"/>
          </a:xfrm>
          <a:prstGeom prst="ellipse">
            <a:avLst/>
          </a:prstGeom>
          <a:solidFill>
            <a:srgbClr val="6F4E37"/>
          </a:solidFill>
          <a:ln w="12700">
            <a:solidFill>
              <a:srgbClr val="6F4E37"/>
            </a:solidFill>
            <a:prstDash val="solid"/>
          </a:ln>
        </p:spPr>
      </p:sp>
      <p:sp>
        <p:nvSpPr>
          <p:cNvPr id="19" name="Text 17"/>
          <p:cNvSpPr txBox="1"/>
          <p:nvPr/>
        </p:nvSpPr>
        <p:spPr>
          <a:xfrm>
            <a:off x="8348472"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8988552" y="137160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Lift the afternoon and evening</a:t>
            </a:r>
            <a:endParaRPr lang="en-US" sz="1400" dirty="0"/>
          </a:p>
        </p:txBody>
      </p:sp>
      <p:sp>
        <p:nvSpPr>
          <p:cNvPr id="21" name="Text 19"/>
          <p:cNvSpPr txBox="1"/>
          <p:nvPr/>
        </p:nvSpPr>
        <p:spPr>
          <a:xfrm>
            <a:off x="8348472" y="205740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Test targeted offers between 11:30 and 18:00, and review whether trading after 20:00 is worthwhile.</a:t>
            </a:r>
            <a:endParaRPr lang="en-US" sz="1400" dirty="0"/>
          </a:p>
        </p:txBody>
      </p:sp>
      <p:sp>
        <p:nvSpPr>
          <p:cNvPr id="22" name="Text 20"/>
          <p:cNvSpPr txBox="1"/>
          <p:nvPr/>
        </p:nvSpPr>
        <p:spPr>
          <a:xfrm>
            <a:off x="8348472" y="310896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flat 13-14k per interval; under 1k after 20:00</a:t>
            </a:r>
            <a:endParaRPr lang="en-US" sz="1050" dirty="0"/>
          </a:p>
        </p:txBody>
      </p:sp>
      <p:sp>
        <p:nvSpPr>
          <p:cNvPr id="23" name="Shape 21"/>
          <p:cNvSpPr/>
          <p:nvPr/>
        </p:nvSpPr>
        <p:spPr>
          <a:xfrm>
            <a:off x="457200" y="3886200"/>
            <a:ext cx="3611880" cy="2468880"/>
          </a:xfrm>
          <a:prstGeom prst="roundRect">
            <a:avLst>
              <a:gd name="adj" fmla="val 3704"/>
            </a:avLst>
          </a:prstGeom>
          <a:solidFill>
            <a:srgbClr val="F5EDE0"/>
          </a:solidFill>
          <a:ln w="12700">
            <a:solidFill>
              <a:srgbClr val="F5EDE0"/>
            </a:solidFill>
            <a:prstDash val="solid"/>
          </a:ln>
        </p:spPr>
      </p:sp>
      <p:sp>
        <p:nvSpPr>
          <p:cNvPr id="24" name="Shape 22"/>
          <p:cNvSpPr/>
          <p:nvPr/>
        </p:nvSpPr>
        <p:spPr>
          <a:xfrm>
            <a:off x="685800" y="4114800"/>
            <a:ext cx="457200" cy="457200"/>
          </a:xfrm>
          <a:prstGeom prst="ellipse">
            <a:avLst/>
          </a:prstGeom>
          <a:solidFill>
            <a:srgbClr val="6F4E37"/>
          </a:solidFill>
          <a:ln w="12700">
            <a:solidFill>
              <a:srgbClr val="6F4E37"/>
            </a:solidFill>
            <a:prstDash val="solid"/>
          </a:ln>
        </p:spPr>
      </p:sp>
      <p:sp>
        <p:nvSpPr>
          <p:cNvPr id="25" name="Text 23"/>
          <p:cNvSpPr txBox="1"/>
          <p:nvPr/>
        </p:nvSpPr>
        <p:spPr>
          <a:xfrm>
            <a:off x="685800"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6" name="Text 24"/>
          <p:cNvSpPr txBox="1"/>
          <p:nvPr/>
        </p:nvSpPr>
        <p:spPr>
          <a:xfrm>
            <a:off x="1325880" y="406908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Grow high-value, low-volume lines</a:t>
            </a:r>
            <a:endParaRPr lang="en-US" sz="1400" dirty="0"/>
          </a:p>
        </p:txBody>
      </p:sp>
      <p:sp>
        <p:nvSpPr>
          <p:cNvPr id="27" name="Text 25"/>
          <p:cNvSpPr txBox="1"/>
          <p:nvPr/>
        </p:nvSpPr>
        <p:spPr>
          <a:xfrm>
            <a:off x="685800" y="475488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Promote Coffee beans and Branded items, and test bundles that pair Bakery with Coffee and Tea.</a:t>
            </a:r>
            <a:endParaRPr lang="en-US" sz="1400" dirty="0"/>
          </a:p>
        </p:txBody>
      </p:sp>
      <p:sp>
        <p:nvSpPr>
          <p:cNvPr id="28" name="Text 26"/>
          <p:cNvSpPr txBox="1"/>
          <p:nvPr/>
        </p:nvSpPr>
        <p:spPr>
          <a:xfrm>
            <a:off x="685800" y="580644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Coffee beans earn 21.68 per unit</a:t>
            </a:r>
            <a:endParaRPr lang="en-US" sz="1050" dirty="0"/>
          </a:p>
        </p:txBody>
      </p:sp>
      <p:sp>
        <p:nvSpPr>
          <p:cNvPr id="29" name="Shape 27"/>
          <p:cNvSpPr/>
          <p:nvPr/>
        </p:nvSpPr>
        <p:spPr>
          <a:xfrm>
            <a:off x="4288536" y="3886200"/>
            <a:ext cx="3611880" cy="2468880"/>
          </a:xfrm>
          <a:prstGeom prst="roundRect">
            <a:avLst>
              <a:gd name="adj" fmla="val 3704"/>
            </a:avLst>
          </a:prstGeom>
          <a:solidFill>
            <a:srgbClr val="F5EDE0"/>
          </a:solidFill>
          <a:ln w="12700">
            <a:solidFill>
              <a:srgbClr val="F5EDE0"/>
            </a:solidFill>
            <a:prstDash val="solid"/>
          </a:ln>
        </p:spPr>
      </p:sp>
      <p:sp>
        <p:nvSpPr>
          <p:cNvPr id="30" name="Shape 28"/>
          <p:cNvSpPr/>
          <p:nvPr/>
        </p:nvSpPr>
        <p:spPr>
          <a:xfrm>
            <a:off x="4517136" y="4114800"/>
            <a:ext cx="457200" cy="457200"/>
          </a:xfrm>
          <a:prstGeom prst="ellipse">
            <a:avLst/>
          </a:prstGeom>
          <a:solidFill>
            <a:srgbClr val="6F4E37"/>
          </a:solidFill>
          <a:ln w="12700">
            <a:solidFill>
              <a:srgbClr val="6F4E37"/>
            </a:solidFill>
            <a:prstDash val="solid"/>
          </a:ln>
        </p:spPr>
      </p:sp>
      <p:sp>
        <p:nvSpPr>
          <p:cNvPr id="31" name="Text 29"/>
          <p:cNvSpPr txBox="1"/>
          <p:nvPr/>
        </p:nvSpPr>
        <p:spPr>
          <a:xfrm>
            <a:off x="4517136"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2" name="Text 30"/>
          <p:cNvSpPr txBox="1"/>
          <p:nvPr/>
        </p:nvSpPr>
        <p:spPr>
          <a:xfrm>
            <a:off x="5157216" y="406908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Improve the lower-performing store</a:t>
            </a:r>
            <a:endParaRPr lang="en-US" sz="1400" dirty="0"/>
          </a:p>
        </p:txBody>
      </p:sp>
      <p:sp>
        <p:nvSpPr>
          <p:cNvPr id="33" name="Text 31"/>
          <p:cNvSpPr txBox="1"/>
          <p:nvPr/>
        </p:nvSpPr>
        <p:spPr>
          <a:xfrm>
            <a:off x="4517136" y="475488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Investigate why Lower Manhattan has fewer transactions and share practices from Hell's Kitchen.</a:t>
            </a:r>
            <a:endParaRPr lang="en-US" sz="1400" dirty="0"/>
          </a:p>
        </p:txBody>
      </p:sp>
      <p:sp>
        <p:nvSpPr>
          <p:cNvPr id="34" name="Text 32"/>
          <p:cNvSpPr txBox="1"/>
          <p:nvPr/>
        </p:nvSpPr>
        <p:spPr>
          <a:xfrm>
            <a:off x="4517136" y="580644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32,062 vs 34,253 transactions</a:t>
            </a:r>
            <a:endParaRPr lang="en-US" sz="1050" dirty="0"/>
          </a:p>
        </p:txBody>
      </p:sp>
      <p:sp>
        <p:nvSpPr>
          <p:cNvPr id="35" name="Shape 33"/>
          <p:cNvSpPr/>
          <p:nvPr/>
        </p:nvSpPr>
        <p:spPr>
          <a:xfrm>
            <a:off x="8119872" y="3886200"/>
            <a:ext cx="3611880" cy="2468880"/>
          </a:xfrm>
          <a:prstGeom prst="roundRect">
            <a:avLst>
              <a:gd name="adj" fmla="val 3704"/>
            </a:avLst>
          </a:prstGeom>
          <a:solidFill>
            <a:srgbClr val="F5EDE0"/>
          </a:solidFill>
          <a:ln w="12700">
            <a:solidFill>
              <a:srgbClr val="F5EDE0"/>
            </a:solidFill>
            <a:prstDash val="solid"/>
          </a:ln>
        </p:spPr>
      </p:sp>
      <p:sp>
        <p:nvSpPr>
          <p:cNvPr id="36" name="Shape 34"/>
          <p:cNvSpPr/>
          <p:nvPr/>
        </p:nvSpPr>
        <p:spPr>
          <a:xfrm>
            <a:off x="8348472" y="4114800"/>
            <a:ext cx="457200" cy="457200"/>
          </a:xfrm>
          <a:prstGeom prst="ellipse">
            <a:avLst/>
          </a:prstGeom>
          <a:solidFill>
            <a:srgbClr val="6F4E37"/>
          </a:solidFill>
          <a:ln w="12700">
            <a:solidFill>
              <a:srgbClr val="6F4E37"/>
            </a:solidFill>
            <a:prstDash val="solid"/>
          </a:ln>
        </p:spPr>
      </p:sp>
      <p:sp>
        <p:nvSpPr>
          <p:cNvPr id="37" name="Text 35"/>
          <p:cNvSpPr txBox="1"/>
          <p:nvPr/>
        </p:nvSpPr>
        <p:spPr>
          <a:xfrm>
            <a:off x="8348472" y="4114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8" name="Text 36"/>
          <p:cNvSpPr txBox="1"/>
          <p:nvPr/>
        </p:nvSpPr>
        <p:spPr>
          <a:xfrm>
            <a:off x="8988552" y="4069080"/>
            <a:ext cx="2560320" cy="548640"/>
          </a:xfrm>
          <a:prstGeom prst="rect">
            <a:avLst/>
          </a:prstGeom>
          <a:noFill/>
          <a:ln/>
        </p:spPr>
        <p:txBody>
          <a:bodyPr wrap="square" lIns="0" tIns="0" rIns="0" bIns="0" rtlCol="0" anchor="ctr"/>
          <a:lstStyle/>
          <a:p>
            <a:pPr indent="0" marL="0">
              <a:buNone/>
            </a:pPr>
            <a:r>
              <a:rPr lang="en-US" sz="1400" b="1" dirty="0">
                <a:solidFill>
                  <a:srgbClr val="2B1A12"/>
                </a:solidFill>
                <a:latin typeface="Cambria" pitchFamily="34" charset="0"/>
                <a:ea typeface="Cambria" pitchFamily="34" charset="-122"/>
                <a:cs typeface="Cambria" pitchFamily="34" charset="-120"/>
              </a:rPr>
              <a:t>Use data-driven decisions</a:t>
            </a:r>
            <a:endParaRPr lang="en-US" sz="1400" dirty="0"/>
          </a:p>
        </p:txBody>
      </p:sp>
      <p:sp>
        <p:nvSpPr>
          <p:cNvPr id="39" name="Text 37"/>
          <p:cNvSpPr txBox="1"/>
          <p:nvPr/>
        </p:nvSpPr>
        <p:spPr>
          <a:xfrm>
            <a:off x="8348472" y="4754880"/>
            <a:ext cx="3154680" cy="1005840"/>
          </a:xfrm>
          <a:prstGeom prst="rect">
            <a:avLst/>
          </a:prstGeom>
          <a:noFill/>
          <a:ln/>
        </p:spPr>
        <p:txBody>
          <a:bodyPr wrap="square" lIns="0" tIns="0" rIns="0" bIns="0" rtlCol="0" anchor="t"/>
          <a:lstStyle/>
          <a:p>
            <a:pPr indent="0" marL="0">
              <a:buNone/>
            </a:pPr>
            <a:r>
              <a:rPr lang="en-US" sz="1400" dirty="0">
                <a:solidFill>
                  <a:srgbClr val="1A1A1A"/>
                </a:solidFill>
                <a:latin typeface="Calibri" pitchFamily="34" charset="0"/>
                <a:ea typeface="Calibri" pitchFamily="34" charset="-122"/>
                <a:cs typeface="Calibri" pitchFamily="34" charset="-120"/>
              </a:rPr>
              <a:t>Extend the data through June, track average daily revenue monthly, and measure the result of every promotion.</a:t>
            </a:r>
            <a:endParaRPr lang="en-US" sz="1400" dirty="0"/>
          </a:p>
        </p:txBody>
      </p:sp>
      <p:sp>
        <p:nvSpPr>
          <p:cNvPr id="40" name="Text 38"/>
          <p:cNvSpPr txBox="1"/>
          <p:nvPr/>
        </p:nvSpPr>
        <p:spPr>
          <a:xfrm>
            <a:off x="8348472" y="5806440"/>
            <a:ext cx="3154680" cy="411480"/>
          </a:xfrm>
          <a:prstGeom prst="rect">
            <a:avLst/>
          </a:prstGeom>
          <a:noFill/>
          <a:ln/>
        </p:spPr>
        <p:txBody>
          <a:bodyPr wrap="square" lIns="0" tIns="0" rIns="0" bIns="0" rtlCol="0" anchor="ctr"/>
          <a:lstStyle/>
          <a:p>
            <a:pPr indent="0" marL="0">
              <a:buNone/>
            </a:pPr>
            <a:r>
              <a:rPr lang="en-US" sz="1050" i="1" dirty="0">
                <a:solidFill>
                  <a:srgbClr val="6B5D52"/>
                </a:solidFill>
                <a:latin typeface="Calibri" pitchFamily="34" charset="0"/>
                <a:ea typeface="Calibri" pitchFamily="34" charset="-122"/>
                <a:cs typeface="Calibri" pitchFamily="34" charset="-120"/>
              </a:rPr>
              <a:t>Evidence: data ends 19 May; May is partial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B1A12"/>
        </a:solidFill>
      </p:bgPr>
    </p:bg>
    <p:spTree>
      <p:nvGrpSpPr>
        <p:cNvPr id="1" name=""/>
        <p:cNvGrpSpPr/>
        <p:nvPr/>
      </p:nvGrpSpPr>
      <p:grpSpPr>
        <a:xfrm>
          <a:off x="0" y="0"/>
          <a:ext cx="0" cy="0"/>
          <a:chOff x="0" y="0"/>
          <a:chExt cx="0" cy="0"/>
        </a:xfrm>
      </p:grpSpPr>
      <p:sp>
        <p:nvSpPr>
          <p:cNvPr id="2" name="Shape 0"/>
          <p:cNvSpPr/>
          <p:nvPr/>
        </p:nvSpPr>
        <p:spPr>
          <a:xfrm>
            <a:off x="7516368" y="1252728"/>
            <a:ext cx="4352544" cy="4352544"/>
          </a:xfrm>
          <a:prstGeom prst="ellipse">
            <a:avLst/>
          </a:prstGeom>
          <a:solidFill>
            <a:srgbClr val="3A251A"/>
          </a:solidFill>
          <a:ln w="12700">
            <a:solidFill>
              <a:srgbClr val="3A251A"/>
            </a:solidFill>
            <a:prstDash val="solid"/>
          </a:ln>
        </p:spPr>
      </p:sp>
      <p:sp>
        <p:nvSpPr>
          <p:cNvPr id="3" name="Shape 1"/>
          <p:cNvSpPr/>
          <p:nvPr/>
        </p:nvSpPr>
        <p:spPr>
          <a:xfrm>
            <a:off x="7904988" y="1641348"/>
            <a:ext cx="3575304" cy="3575304"/>
          </a:xfrm>
          <a:prstGeom prst="ellipse">
            <a:avLst/>
          </a:prstGeom>
          <a:solidFill>
            <a:srgbClr val="F5EDE0"/>
          </a:solidFill>
          <a:ln w="12700">
            <a:solidFill>
              <a:srgbClr val="F5EDE0"/>
            </a:solidFill>
            <a:prstDash val="solid"/>
          </a:ln>
        </p:spPr>
      </p:sp>
      <p:sp>
        <p:nvSpPr>
          <p:cNvPr id="4" name="Shape 2"/>
          <p:cNvSpPr/>
          <p:nvPr/>
        </p:nvSpPr>
        <p:spPr>
          <a:xfrm>
            <a:off x="8177022" y="1913382"/>
            <a:ext cx="3031236" cy="3031236"/>
          </a:xfrm>
          <a:prstGeom prst="ellipse">
            <a:avLst/>
          </a:prstGeom>
          <a:solidFill>
            <a:srgbClr val="D9C7AD"/>
          </a:solidFill>
          <a:ln w="12700">
            <a:solidFill>
              <a:srgbClr val="D9C7AD"/>
            </a:solidFill>
            <a:prstDash val="solid"/>
          </a:ln>
        </p:spPr>
      </p:sp>
      <p:sp>
        <p:nvSpPr>
          <p:cNvPr id="5" name="Shape 3"/>
          <p:cNvSpPr/>
          <p:nvPr/>
        </p:nvSpPr>
        <p:spPr>
          <a:xfrm>
            <a:off x="8449056" y="2185416"/>
            <a:ext cx="2487168" cy="2487168"/>
          </a:xfrm>
          <a:prstGeom prst="ellipse">
            <a:avLst/>
          </a:prstGeom>
          <a:solidFill>
            <a:srgbClr val="6F4E37"/>
          </a:solidFill>
          <a:ln w="12700">
            <a:solidFill>
              <a:srgbClr val="6F4E37"/>
            </a:solidFill>
            <a:prstDash val="solid"/>
          </a:ln>
        </p:spPr>
      </p:sp>
      <p:sp>
        <p:nvSpPr>
          <p:cNvPr id="6" name="Shape 4"/>
          <p:cNvSpPr/>
          <p:nvPr/>
        </p:nvSpPr>
        <p:spPr>
          <a:xfrm>
            <a:off x="8915400" y="2651760"/>
            <a:ext cx="1554480" cy="1554480"/>
          </a:xfrm>
          <a:prstGeom prst="ellipse">
            <a:avLst/>
          </a:prstGeom>
          <a:solidFill>
            <a:srgbClr val="A67B5B"/>
          </a:solidFill>
          <a:ln w="12700">
            <a:solidFill>
              <a:srgbClr val="A67B5B"/>
            </a:solidFill>
            <a:prstDash val="solid"/>
          </a:ln>
        </p:spPr>
      </p:sp>
      <p:pic>
        <p:nvPicPr>
          <p:cNvPr id="7" name="Image 0" descr="preencoded.png">    </p:cNvPr>
          <p:cNvPicPr>
            <a:picLocks noChangeAspect="1"/>
          </p:cNvPicPr>
          <p:nvPr/>
        </p:nvPicPr>
        <p:blipFill>
          <a:blip r:embed="rId1"/>
          <a:stretch>
            <a:fillRect/>
          </a:stretch>
        </p:blipFill>
        <p:spPr>
          <a:xfrm>
            <a:off x="9265158" y="3001518"/>
            <a:ext cx="854964" cy="854964"/>
          </a:xfrm>
          <a:prstGeom prst="rect">
            <a:avLst/>
          </a:prstGeom>
        </p:spPr>
      </p:pic>
      <p:sp>
        <p:nvSpPr>
          <p:cNvPr id="8" name="Text 5"/>
          <p:cNvSpPr txBox="1"/>
          <p:nvPr/>
        </p:nvSpPr>
        <p:spPr>
          <a:xfrm>
            <a:off x="640080" y="109728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9" name="Text 6"/>
          <p:cNvSpPr txBox="1"/>
          <p:nvPr/>
        </p:nvSpPr>
        <p:spPr>
          <a:xfrm>
            <a:off x="640080" y="2514600"/>
            <a:ext cx="5486400" cy="365760"/>
          </a:xfrm>
          <a:prstGeom prst="rect">
            <a:avLst/>
          </a:prstGeom>
          <a:noFill/>
          <a:ln/>
        </p:spPr>
        <p:txBody>
          <a:bodyPr wrap="square" lIns="0" tIns="0" rIns="0" bIns="0" rtlCol="0" anchor="ctr"/>
          <a:lstStyle/>
          <a:p>
            <a:pPr indent="0" marL="0">
              <a:buNone/>
            </a:pPr>
            <a:r>
              <a:rPr lang="en-US" sz="1600" dirty="0">
                <a:solidFill>
                  <a:srgbClr val="C4956A"/>
                </a:solidFill>
                <a:latin typeface="Calibri" pitchFamily="34" charset="0"/>
                <a:ea typeface="Calibri" pitchFamily="34" charset="-122"/>
                <a:cs typeface="Calibri" pitchFamily="34" charset="-120"/>
              </a:rPr>
              <a:t>Prepared by:</a:t>
            </a:r>
            <a:endParaRPr lang="en-US" sz="1600" dirty="0"/>
          </a:p>
        </p:txBody>
      </p:sp>
      <p:sp>
        <p:nvSpPr>
          <p:cNvPr id="10" name="Text 7"/>
          <p:cNvSpPr txBox="1"/>
          <p:nvPr/>
        </p:nvSpPr>
        <p:spPr>
          <a:xfrm>
            <a:off x="640080" y="2880360"/>
            <a:ext cx="5943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Ethaba Mhlongo</a:t>
            </a:r>
            <a:endParaRPr lang="en-US" sz="3000" dirty="0"/>
          </a:p>
        </p:txBody>
      </p:sp>
      <p:sp>
        <p:nvSpPr>
          <p:cNvPr id="11" name="Text 8"/>
          <p:cNvSpPr txBox="1"/>
          <p:nvPr/>
        </p:nvSpPr>
        <p:spPr>
          <a:xfrm>
            <a:off x="640080" y="3611880"/>
            <a:ext cx="5943600" cy="365760"/>
          </a:xfrm>
          <a:prstGeom prst="rect">
            <a:avLst/>
          </a:prstGeom>
          <a:noFill/>
          <a:ln/>
        </p:spPr>
        <p:txBody>
          <a:bodyPr wrap="square" lIns="0" tIns="0" rIns="0" bIns="0" rtlCol="0" anchor="ctr"/>
          <a:lstStyle/>
          <a:p>
            <a:pPr indent="0" marL="0">
              <a:buNone/>
            </a:pPr>
            <a:r>
              <a:rPr lang="en-US" sz="1800" dirty="0">
                <a:solidFill>
                  <a:srgbClr val="E6D8C3"/>
                </a:solidFill>
                <a:latin typeface="Calibri" pitchFamily="34" charset="0"/>
                <a:ea typeface="Calibri" pitchFamily="34" charset="-122"/>
                <a:cs typeface="Calibri" pitchFamily="34" charset="-120"/>
              </a:rPr>
              <a:t>Data Analytics Portfolio Project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 Coffee Shop Data Analysis Project</dc:title>
  <dc:subject>PptxGenJS Presentation</dc:subject>
  <dc:creator>Ethaba Mhlongo</dc:creator>
  <cp:lastModifiedBy>Ethaba Mhlongo</cp:lastModifiedBy>
  <cp:revision>1</cp:revision>
  <dcterms:created xsi:type="dcterms:W3CDTF">2026-09-29T18:26:45Z</dcterms:created>
  <dcterms:modified xsi:type="dcterms:W3CDTF">2026-09-29T18:26:45Z</dcterms:modified>
</cp:coreProperties>
</file>